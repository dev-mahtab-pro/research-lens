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70" r:id="rId3"/>
    <p:sldId id="257"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9906000" cy="6858000" type="A4"/>
  <p:notesSz cx="6858000" cy="9144000"/>
  <p:embeddedFontLst>
    <p:embeddedFont>
      <p:font typeface="Arimo Bold" panose="020B0604020202020204" charset="0"/>
      <p:regular r:id="rId18"/>
    </p:embeddedFont>
    <p:embeddedFont>
      <p:font typeface="Calibri (MS)" panose="020B0604020202020204" charset="0"/>
      <p:regular r:id="rId19"/>
    </p:embeddedFont>
    <p:embeddedFont>
      <p:font typeface="Calibri (MS) Bold" panose="020B0604020202020204" charset="0"/>
      <p:regular r:id="rId20"/>
    </p:embeddedFont>
    <p:embeddedFont>
      <p:font typeface="Times New Roman MT" panose="020B0604020202020204" charset="0"/>
      <p:regular r:id="rId21"/>
    </p:embeddedFont>
    <p:embeddedFont>
      <p:font typeface="Times New Roman MT Bold" panose="020B0604020202020204" charset="0"/>
      <p:regular r:id="rId22"/>
    </p:embeddedFont>
    <p:embeddedFont>
      <p:font typeface="TT Rounds Condensed" panose="020B0604020202020204" charset="0"/>
      <p:regular r:id="rId23"/>
    </p:embeddedFont>
    <p:embeddedFont>
      <p:font typeface="TT Rounds Condensed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7" d="100"/>
          <a:sy n="87" d="100"/>
        </p:scale>
        <p:origin x="104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19388" y="512763"/>
            <a:ext cx="370522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3F65E-3DAB-5F5F-CAE6-07FFD461AE0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4ECA92-F999-BF26-CBE0-1A588B758D9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D47BC1B-8D56-864B-E583-2AAEFE16060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35F3ACC-3772-9852-6A42-6AADCAD15E4D}"/>
              </a:ext>
            </a:extLst>
          </p:cNvPr>
          <p:cNvSpPr>
            <a:spLocks noGrp="1" noRot="1" noChangeAspect="1"/>
          </p:cNvSpPr>
          <p:nvPr>
            <p:ph type="sldImg" idx="2"/>
          </p:nvPr>
        </p:nvSpPr>
        <p:spPr>
          <a:xfrm>
            <a:off x="2719388" y="512763"/>
            <a:ext cx="370522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7EE0A96-207B-BB62-F83C-28138A62EAD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a:extLst>
              <a:ext uri="{FF2B5EF4-FFF2-40B4-BE49-F238E27FC236}">
                <a16:creationId xmlns:a16="http://schemas.microsoft.com/office/drawing/2014/main" id="{998F8FDE-BCC1-6E8B-E511-B4ECC66C76B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ADBFD7A-EE04-BA7B-FD3A-53E8C29E01A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452325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p14:dur="0">
        <p:sndAc>
          <p:stSnd>
            <p:snd r:embed="rId1" name="bomb.wav"/>
          </p:stSnd>
        </p:sndAc>
      </p:transition>
    </mc:Choice>
    <mc:Fallback>
      <p:transition>
        <p:sndAc>
          <p:stSnd>
            <p:snd r:embed="rId1" name="bomb.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0">
        <p:sndAc>
          <p:stSnd>
            <p:snd r:embed="rId13" name="bomb.wav"/>
          </p:stSnd>
        </p:sndAc>
      </p:transition>
    </mc:Choice>
    <mc:Fallback>
      <p:transition>
        <p:sndAc>
          <p:stSnd>
            <p:snd r:embed="rId13" name="bomb.wav"/>
          </p:stSnd>
        </p:sndAc>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60808" y="1232669"/>
            <a:ext cx="4272939" cy="4065916"/>
            <a:chOff x="0" y="0"/>
            <a:chExt cx="1548384" cy="1473365"/>
          </a:xfrm>
        </p:grpSpPr>
        <p:sp>
          <p:nvSpPr>
            <p:cNvPr id="3" name="Freeform 3"/>
            <p:cNvSpPr/>
            <p:nvPr/>
          </p:nvSpPr>
          <p:spPr>
            <a:xfrm>
              <a:off x="0" y="0"/>
              <a:ext cx="1548384" cy="1473327"/>
            </a:xfrm>
            <a:custGeom>
              <a:avLst/>
              <a:gdLst/>
              <a:ahLst/>
              <a:cxnLst/>
              <a:rect l="l" t="t" r="r" b="b"/>
              <a:pathLst>
                <a:path w="1548384" h="1473327">
                  <a:moveTo>
                    <a:pt x="0" y="0"/>
                  </a:moveTo>
                  <a:lnTo>
                    <a:pt x="1548384" y="0"/>
                  </a:lnTo>
                  <a:lnTo>
                    <a:pt x="1548384" y="1473327"/>
                  </a:lnTo>
                  <a:lnTo>
                    <a:pt x="0" y="1473327"/>
                  </a:lnTo>
                  <a:lnTo>
                    <a:pt x="0" y="0"/>
                  </a:lnTo>
                  <a:close/>
                </a:path>
              </a:pathLst>
            </a:custGeom>
            <a:blipFill>
              <a:blip r:embed="rId4">
                <a:alphaModFix amt="6000"/>
              </a:blip>
              <a:stretch>
                <a:fillRect l="-72087" r="-72087" b="-2"/>
              </a:stretch>
            </a:blipFill>
          </p:spPr>
        </p:sp>
      </p:grpSp>
      <p:grpSp>
        <p:nvGrpSpPr>
          <p:cNvPr id="4" name="Group 4"/>
          <p:cNvGrpSpPr/>
          <p:nvPr/>
        </p:nvGrpSpPr>
        <p:grpSpPr>
          <a:xfrm>
            <a:off x="-12506" y="2573388"/>
            <a:ext cx="9918506" cy="54064"/>
            <a:chOff x="0" y="0"/>
            <a:chExt cx="13224675" cy="72085"/>
          </a:xfrm>
        </p:grpSpPr>
        <p:sp>
          <p:nvSpPr>
            <p:cNvPr id="5" name="Freeform 5"/>
            <p:cNvSpPr/>
            <p:nvPr/>
          </p:nvSpPr>
          <p:spPr>
            <a:xfrm>
              <a:off x="0" y="0"/>
              <a:ext cx="13224638" cy="72080"/>
            </a:xfrm>
            <a:custGeom>
              <a:avLst/>
              <a:gdLst/>
              <a:ahLst/>
              <a:cxnLst/>
              <a:rect l="l" t="t" r="r" b="b"/>
              <a:pathLst>
                <a:path w="13224638" h="72080">
                  <a:moveTo>
                    <a:pt x="0" y="0"/>
                  </a:moveTo>
                  <a:lnTo>
                    <a:pt x="13224638" y="0"/>
                  </a:lnTo>
                  <a:lnTo>
                    <a:pt x="13224638" y="72080"/>
                  </a:lnTo>
                  <a:lnTo>
                    <a:pt x="0" y="72080"/>
                  </a:lnTo>
                  <a:close/>
                </a:path>
              </a:pathLst>
            </a:custGeom>
            <a:solidFill>
              <a:srgbClr val="92D050"/>
            </a:solidFill>
          </p:spPr>
        </p:sp>
      </p:grpSp>
      <p:grpSp>
        <p:nvGrpSpPr>
          <p:cNvPr id="6" name="Group 6"/>
          <p:cNvGrpSpPr/>
          <p:nvPr/>
        </p:nvGrpSpPr>
        <p:grpSpPr>
          <a:xfrm>
            <a:off x="-12506" y="6375044"/>
            <a:ext cx="9918506" cy="482956"/>
            <a:chOff x="0" y="0"/>
            <a:chExt cx="13224675" cy="643941"/>
          </a:xfrm>
        </p:grpSpPr>
        <p:sp>
          <p:nvSpPr>
            <p:cNvPr id="7" name="Freeform 7"/>
            <p:cNvSpPr/>
            <p:nvPr/>
          </p:nvSpPr>
          <p:spPr>
            <a:xfrm>
              <a:off x="0" y="0"/>
              <a:ext cx="13224638" cy="643890"/>
            </a:xfrm>
            <a:custGeom>
              <a:avLst/>
              <a:gdLst/>
              <a:ahLst/>
              <a:cxnLst/>
              <a:rect l="l" t="t" r="r" b="b"/>
              <a:pathLst>
                <a:path w="13224638" h="643890">
                  <a:moveTo>
                    <a:pt x="0" y="0"/>
                  </a:moveTo>
                  <a:lnTo>
                    <a:pt x="13224638" y="0"/>
                  </a:lnTo>
                  <a:lnTo>
                    <a:pt x="13224638" y="643890"/>
                  </a:lnTo>
                  <a:lnTo>
                    <a:pt x="0" y="643890"/>
                  </a:lnTo>
                  <a:close/>
                </a:path>
              </a:pathLst>
            </a:custGeom>
            <a:solidFill>
              <a:srgbClr val="FFFFFF"/>
            </a:solidFill>
          </p:spPr>
        </p:sp>
      </p:grpSp>
      <p:sp>
        <p:nvSpPr>
          <p:cNvPr id="8" name="TextBox 8"/>
          <p:cNvSpPr txBox="1"/>
          <p:nvPr/>
        </p:nvSpPr>
        <p:spPr>
          <a:xfrm>
            <a:off x="91440" y="1244422"/>
            <a:ext cx="9723120" cy="685324"/>
          </a:xfrm>
          <a:prstGeom prst="rect">
            <a:avLst/>
          </a:prstGeom>
        </p:spPr>
        <p:txBody>
          <a:bodyPr lIns="0" tIns="0" rIns="0" bIns="0" rtlCol="0" anchor="t">
            <a:spAutoFit/>
          </a:bodyPr>
          <a:lstStyle/>
          <a:p>
            <a:pPr algn="ctr">
              <a:lnSpc>
                <a:spcPts val="2879"/>
              </a:lnSpc>
            </a:pPr>
            <a:r>
              <a:rPr lang="en-US" sz="2400" b="1">
                <a:solidFill>
                  <a:srgbClr val="0070C0"/>
                </a:solidFill>
                <a:latin typeface="Calibri (MS) Bold"/>
                <a:ea typeface="Calibri (MS) Bold"/>
                <a:cs typeface="Calibri (MS) Bold"/>
                <a:sym typeface="Calibri (MS) Bold"/>
              </a:rPr>
              <a:t>1st National Conference on Advances in Civil Engineering</a:t>
            </a:r>
          </a:p>
          <a:p>
            <a:pPr algn="ctr">
              <a:lnSpc>
                <a:spcPts val="2160"/>
              </a:lnSpc>
            </a:pPr>
            <a:r>
              <a:rPr lang="en-US" sz="1800">
                <a:solidFill>
                  <a:srgbClr val="0070C0"/>
                </a:solidFill>
                <a:latin typeface="Calibri (MS)"/>
                <a:ea typeface="Calibri (MS)"/>
                <a:cs typeface="Calibri (MS)"/>
                <a:sym typeface="Calibri (MS)"/>
              </a:rPr>
              <a:t>Organised by </a:t>
            </a:r>
          </a:p>
        </p:txBody>
      </p:sp>
      <p:sp>
        <p:nvSpPr>
          <p:cNvPr id="9" name="TextBox 9"/>
          <p:cNvSpPr txBox="1"/>
          <p:nvPr/>
        </p:nvSpPr>
        <p:spPr>
          <a:xfrm>
            <a:off x="78934" y="272567"/>
            <a:ext cx="9735626" cy="521913"/>
          </a:xfrm>
          <a:prstGeom prst="rect">
            <a:avLst/>
          </a:prstGeom>
        </p:spPr>
        <p:txBody>
          <a:bodyPr lIns="0" tIns="0" rIns="0" bIns="0" rtlCol="0" anchor="t">
            <a:spAutoFit/>
          </a:bodyPr>
          <a:lstStyle/>
          <a:p>
            <a:pPr algn="ctr">
              <a:lnSpc>
                <a:spcPts val="3840"/>
              </a:lnSpc>
            </a:pPr>
            <a:r>
              <a:rPr lang="en-US" sz="3200" b="1">
                <a:solidFill>
                  <a:srgbClr val="0070C0"/>
                </a:solidFill>
                <a:latin typeface="Arimo Bold"/>
                <a:ea typeface="Arimo Bold"/>
                <a:cs typeface="Arimo Bold"/>
                <a:sym typeface="Arimo Bold"/>
              </a:rPr>
              <a:t>NCACE 2026</a:t>
            </a:r>
          </a:p>
        </p:txBody>
      </p:sp>
      <p:sp>
        <p:nvSpPr>
          <p:cNvPr id="10" name="TextBox 10"/>
          <p:cNvSpPr txBox="1"/>
          <p:nvPr/>
        </p:nvSpPr>
        <p:spPr>
          <a:xfrm>
            <a:off x="3576428" y="781412"/>
            <a:ext cx="2740628" cy="277892"/>
          </a:xfrm>
          <a:prstGeom prst="rect">
            <a:avLst/>
          </a:prstGeom>
        </p:spPr>
        <p:txBody>
          <a:bodyPr lIns="0" tIns="0" rIns="0" bIns="0" rtlCol="0" anchor="t">
            <a:spAutoFit/>
          </a:bodyPr>
          <a:lstStyle/>
          <a:p>
            <a:pPr algn="ctr">
              <a:lnSpc>
                <a:spcPts val="2160"/>
              </a:lnSpc>
            </a:pPr>
            <a:r>
              <a:rPr lang="en-US" sz="1800" b="1" spc="-10">
                <a:solidFill>
                  <a:srgbClr val="0070C0"/>
                </a:solidFill>
                <a:latin typeface="TT Rounds Condensed Bold"/>
                <a:ea typeface="TT Rounds Condensed Bold"/>
                <a:cs typeface="TT Rounds Condensed Bold"/>
                <a:sym typeface="TT Rounds Condensed Bold"/>
              </a:rPr>
              <a:t>(13 - 14 March 2026)</a:t>
            </a:r>
          </a:p>
        </p:txBody>
      </p:sp>
      <p:sp>
        <p:nvSpPr>
          <p:cNvPr id="11" name="TextBox 11"/>
          <p:cNvSpPr txBox="1"/>
          <p:nvPr/>
        </p:nvSpPr>
        <p:spPr>
          <a:xfrm>
            <a:off x="91440" y="1979514"/>
            <a:ext cx="9723120" cy="562213"/>
          </a:xfrm>
          <a:prstGeom prst="rect">
            <a:avLst/>
          </a:prstGeom>
        </p:spPr>
        <p:txBody>
          <a:bodyPr lIns="0" tIns="0" rIns="0" bIns="0" rtlCol="0" anchor="t">
            <a:spAutoFit/>
          </a:bodyPr>
          <a:lstStyle/>
          <a:p>
            <a:pPr algn="ctr">
              <a:lnSpc>
                <a:spcPts val="2160"/>
              </a:lnSpc>
            </a:pPr>
            <a:r>
              <a:rPr lang="en-US" sz="1800">
                <a:solidFill>
                  <a:srgbClr val="0070C0"/>
                </a:solidFill>
                <a:latin typeface="Calibri (MS)"/>
                <a:ea typeface="Calibri (MS)"/>
                <a:cs typeface="Calibri (MS)"/>
                <a:sym typeface="Calibri (MS)"/>
              </a:rPr>
              <a:t>Department of Civil Engineering, Motihari College of Engineering, Motihari </a:t>
            </a:r>
          </a:p>
          <a:p>
            <a:pPr algn="ctr">
              <a:lnSpc>
                <a:spcPts val="1920"/>
              </a:lnSpc>
            </a:pPr>
            <a:r>
              <a:rPr lang="en-US" sz="1600">
                <a:solidFill>
                  <a:srgbClr val="0070C0"/>
                </a:solidFill>
                <a:latin typeface="Calibri (MS)"/>
                <a:ea typeface="Calibri (MS)"/>
                <a:cs typeface="Calibri (MS)"/>
                <a:sym typeface="Calibri (MS)"/>
              </a:rPr>
              <a:t>East Champaran-845401, Bihar (India)</a:t>
            </a:r>
          </a:p>
        </p:txBody>
      </p:sp>
      <p:grpSp>
        <p:nvGrpSpPr>
          <p:cNvPr id="12" name="Group 12"/>
          <p:cNvGrpSpPr/>
          <p:nvPr/>
        </p:nvGrpSpPr>
        <p:grpSpPr>
          <a:xfrm>
            <a:off x="474564" y="182585"/>
            <a:ext cx="1161288" cy="1105024"/>
            <a:chOff x="0" y="0"/>
            <a:chExt cx="1548384" cy="1473365"/>
          </a:xfrm>
        </p:grpSpPr>
        <p:sp>
          <p:nvSpPr>
            <p:cNvPr id="13" name="Freeform 13"/>
            <p:cNvSpPr/>
            <p:nvPr/>
          </p:nvSpPr>
          <p:spPr>
            <a:xfrm>
              <a:off x="0" y="0"/>
              <a:ext cx="1548384" cy="1473327"/>
            </a:xfrm>
            <a:custGeom>
              <a:avLst/>
              <a:gdLst/>
              <a:ahLst/>
              <a:cxnLst/>
              <a:rect l="l" t="t" r="r" b="b"/>
              <a:pathLst>
                <a:path w="1548384" h="1473327">
                  <a:moveTo>
                    <a:pt x="0" y="0"/>
                  </a:moveTo>
                  <a:lnTo>
                    <a:pt x="1548384" y="0"/>
                  </a:lnTo>
                  <a:lnTo>
                    <a:pt x="1548384" y="1473327"/>
                  </a:lnTo>
                  <a:lnTo>
                    <a:pt x="0" y="1473327"/>
                  </a:lnTo>
                  <a:lnTo>
                    <a:pt x="0" y="0"/>
                  </a:lnTo>
                  <a:close/>
                </a:path>
              </a:pathLst>
            </a:custGeom>
            <a:blipFill>
              <a:blip r:embed="rId5"/>
              <a:stretch>
                <a:fillRect l="-81" r="-82" b="-2"/>
              </a:stretch>
            </a:blipFill>
          </p:spPr>
        </p:sp>
      </p:grpSp>
      <p:sp>
        <p:nvSpPr>
          <p:cNvPr id="14" name="TextBox 14"/>
          <p:cNvSpPr txBox="1"/>
          <p:nvPr/>
        </p:nvSpPr>
        <p:spPr>
          <a:xfrm>
            <a:off x="459653" y="3006138"/>
            <a:ext cx="9096487" cy="1724025"/>
          </a:xfrm>
          <a:prstGeom prst="rect">
            <a:avLst/>
          </a:prstGeom>
        </p:spPr>
        <p:txBody>
          <a:bodyPr lIns="0" tIns="0" rIns="0" bIns="0" rtlCol="0" anchor="t">
            <a:spAutoFit/>
          </a:bodyPr>
          <a:lstStyle/>
          <a:p>
            <a:pPr algn="ctr">
              <a:lnSpc>
                <a:spcPts val="3359"/>
              </a:lnSpc>
            </a:pPr>
            <a:endParaRPr/>
          </a:p>
          <a:p>
            <a:pPr algn="ctr">
              <a:lnSpc>
                <a:spcPts val="3359"/>
              </a:lnSpc>
            </a:pPr>
            <a:r>
              <a:rPr lang="en-US" sz="2799" b="1">
                <a:solidFill>
                  <a:srgbClr val="183642"/>
                </a:solidFill>
                <a:latin typeface="Calibri (MS) Bold"/>
                <a:ea typeface="Calibri (MS) Bold"/>
                <a:cs typeface="Calibri (MS) Bold"/>
                <a:sym typeface="Calibri (MS) Bold"/>
              </a:rPr>
              <a:t>Title of  Presentation – “Integration of Artificial Intelligence with BIM for Intelligent Civil Infrastructure Design”</a:t>
            </a:r>
          </a:p>
          <a:p>
            <a:pPr algn="ctr">
              <a:lnSpc>
                <a:spcPts val="3359"/>
              </a:lnSpc>
            </a:pPr>
            <a:endParaRPr lang="en-US" sz="2799" b="1">
              <a:solidFill>
                <a:srgbClr val="183642"/>
              </a:solidFill>
              <a:latin typeface="Calibri (MS) Bold"/>
              <a:ea typeface="Calibri (MS) Bold"/>
              <a:cs typeface="Calibri (MS) Bold"/>
              <a:sym typeface="Calibri (MS) Bold"/>
            </a:endParaRPr>
          </a:p>
        </p:txBody>
      </p:sp>
      <p:sp>
        <p:nvSpPr>
          <p:cNvPr id="15" name="TextBox 15"/>
          <p:cNvSpPr txBox="1"/>
          <p:nvPr/>
        </p:nvSpPr>
        <p:spPr>
          <a:xfrm>
            <a:off x="62238" y="4513402"/>
            <a:ext cx="9769009" cy="1717816"/>
          </a:xfrm>
          <a:prstGeom prst="rect">
            <a:avLst/>
          </a:prstGeom>
        </p:spPr>
        <p:txBody>
          <a:bodyPr lIns="0" tIns="0" rIns="0" bIns="0" rtlCol="0" anchor="t">
            <a:spAutoFit/>
          </a:bodyPr>
          <a:lstStyle/>
          <a:p>
            <a:pPr algn="ctr">
              <a:lnSpc>
                <a:spcPts val="2220"/>
              </a:lnSpc>
            </a:pPr>
            <a:r>
              <a:rPr lang="en-US" sz="1850">
                <a:solidFill>
                  <a:srgbClr val="2C2D2E"/>
                </a:solidFill>
                <a:latin typeface="Calibri (MS)"/>
                <a:ea typeface="Calibri (MS)"/>
                <a:cs typeface="Calibri (MS)"/>
                <a:sym typeface="Calibri (MS)"/>
              </a:rPr>
              <a:t>Md Mahtab Alam(1), AbuOsama Alam(2), Mohammad Aknan(3),Kahkashan Kouser(4)</a:t>
            </a:r>
          </a:p>
          <a:p>
            <a:pPr algn="ctr">
              <a:lnSpc>
                <a:spcPts val="2220"/>
              </a:lnSpc>
            </a:pPr>
            <a:endParaRPr lang="en-US" sz="1850">
              <a:solidFill>
                <a:srgbClr val="2C2D2E"/>
              </a:solidFill>
              <a:latin typeface="Calibri (MS)"/>
              <a:ea typeface="Calibri (MS)"/>
              <a:cs typeface="Calibri (MS)"/>
              <a:sym typeface="Calibri (MS)"/>
            </a:endParaRPr>
          </a:p>
          <a:p>
            <a:pPr algn="ctr">
              <a:lnSpc>
                <a:spcPts val="2220"/>
              </a:lnSpc>
            </a:pPr>
            <a:r>
              <a:rPr lang="en-US" sz="1850">
                <a:solidFill>
                  <a:srgbClr val="2C2D2E"/>
                </a:solidFill>
                <a:latin typeface="Calibri (MS)"/>
                <a:ea typeface="Calibri (MS)"/>
                <a:cs typeface="Calibri (MS)"/>
                <a:sym typeface="Calibri (MS)"/>
              </a:rPr>
              <a:t>Department of Computer Science &amp; Engineering, Motihari College of Engineering, Motihari, India</a:t>
            </a:r>
          </a:p>
          <a:p>
            <a:pPr algn="ctr">
              <a:lnSpc>
                <a:spcPts val="2220"/>
              </a:lnSpc>
            </a:pPr>
            <a:r>
              <a:rPr lang="en-US" sz="1850">
                <a:solidFill>
                  <a:srgbClr val="2C2D2E"/>
                </a:solidFill>
                <a:latin typeface="Calibri (MS)"/>
                <a:ea typeface="Calibri (MS)"/>
                <a:cs typeface="Calibri (MS)"/>
                <a:sym typeface="Calibri (MS)"/>
              </a:rPr>
              <a:t>Department of Civil Engineering, Motihari College of Engineering, Motihari, India</a:t>
            </a:r>
          </a:p>
          <a:p>
            <a:pPr algn="ctr">
              <a:lnSpc>
                <a:spcPts val="2220"/>
              </a:lnSpc>
            </a:pPr>
            <a:endParaRPr lang="en-US" sz="1850">
              <a:solidFill>
                <a:srgbClr val="2C2D2E"/>
              </a:solidFill>
              <a:latin typeface="Calibri (MS)"/>
              <a:ea typeface="Calibri (MS)"/>
              <a:cs typeface="Calibri (MS)"/>
              <a:sym typeface="Calibri (MS)"/>
            </a:endParaRPr>
          </a:p>
          <a:p>
            <a:pPr algn="ctr">
              <a:lnSpc>
                <a:spcPts val="2220"/>
              </a:lnSpc>
            </a:pPr>
            <a:endParaRPr lang="en-US" sz="1850">
              <a:solidFill>
                <a:srgbClr val="2C2D2E"/>
              </a:solidFill>
              <a:latin typeface="Calibri (MS)"/>
              <a:ea typeface="Calibri (MS)"/>
              <a:cs typeface="Calibri (MS)"/>
              <a:sym typeface="Calibri (MS)"/>
            </a:endParaRPr>
          </a:p>
        </p:txBody>
      </p:sp>
      <p:sp>
        <p:nvSpPr>
          <p:cNvPr id="16" name="TextBox 16"/>
          <p:cNvSpPr txBox="1"/>
          <p:nvPr/>
        </p:nvSpPr>
        <p:spPr>
          <a:xfrm>
            <a:off x="337344" y="2779852"/>
            <a:ext cx="8882856" cy="485775"/>
          </a:xfrm>
          <a:prstGeom prst="rect">
            <a:avLst/>
          </a:prstGeom>
        </p:spPr>
        <p:txBody>
          <a:bodyPr lIns="0" tIns="0" rIns="0" bIns="0" rtlCol="0" anchor="t">
            <a:spAutoFit/>
          </a:bodyPr>
          <a:lstStyle/>
          <a:p>
            <a:pPr algn="ctr">
              <a:lnSpc>
                <a:spcPts val="3359"/>
              </a:lnSpc>
            </a:pPr>
            <a:r>
              <a:rPr lang="en-US" sz="2799" b="1">
                <a:solidFill>
                  <a:srgbClr val="FFFFFF"/>
                </a:solidFill>
                <a:latin typeface="Calibri (MS) Bold"/>
                <a:ea typeface="Calibri (MS) Bold"/>
                <a:cs typeface="Calibri (MS) Bold"/>
                <a:sym typeface="Calibri (MS) Bold"/>
              </a:rPr>
              <a:t>PAPER ID: 905</a:t>
            </a:r>
          </a:p>
        </p:txBody>
      </p:sp>
    </p:spTree>
  </p:cSld>
  <p:clrMapOvr>
    <a:masterClrMapping/>
  </p:clrMapOvr>
  <mc:AlternateContent xmlns:mc="http://schemas.openxmlformats.org/markup-compatibility/2006">
    <mc:Choice xmlns:p14="http://schemas.microsoft.com/office/powerpoint/2010/main" Requires="p14">
      <p:transition p14:dur="0">
        <p:sndAc>
          <p:stSnd>
            <p:snd r:embed="rId3" name="bomb.wav"/>
          </p:stSnd>
        </p:sndAc>
      </p:transition>
    </mc:Choice>
    <mc:Fallback>
      <p:transition>
        <p:sndAc>
          <p:stSnd>
            <p:snd r:embed="rId3" name="bomb.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06" y="2573388"/>
            <a:ext cx="9918506" cy="54064"/>
            <a:chOff x="0" y="0"/>
            <a:chExt cx="13224675" cy="72085"/>
          </a:xfrm>
        </p:grpSpPr>
        <p:sp>
          <p:nvSpPr>
            <p:cNvPr id="3" name="Freeform 3"/>
            <p:cNvSpPr/>
            <p:nvPr/>
          </p:nvSpPr>
          <p:spPr>
            <a:xfrm>
              <a:off x="0" y="0"/>
              <a:ext cx="13224638" cy="72080"/>
            </a:xfrm>
            <a:custGeom>
              <a:avLst/>
              <a:gdLst/>
              <a:ahLst/>
              <a:cxnLst/>
              <a:rect l="l" t="t" r="r" b="b"/>
              <a:pathLst>
                <a:path w="13224638" h="72080">
                  <a:moveTo>
                    <a:pt x="0" y="0"/>
                  </a:moveTo>
                  <a:lnTo>
                    <a:pt x="13224638" y="0"/>
                  </a:lnTo>
                  <a:lnTo>
                    <a:pt x="13224638" y="72080"/>
                  </a:lnTo>
                  <a:lnTo>
                    <a:pt x="0" y="72080"/>
                  </a:lnTo>
                  <a:close/>
                </a:path>
              </a:pathLst>
            </a:custGeom>
            <a:solidFill>
              <a:srgbClr val="92D050"/>
            </a:solidFill>
          </p:spPr>
        </p:sp>
      </p:grpSp>
      <p:grpSp>
        <p:nvGrpSpPr>
          <p:cNvPr id="4" name="Group 4"/>
          <p:cNvGrpSpPr/>
          <p:nvPr/>
        </p:nvGrpSpPr>
        <p:grpSpPr>
          <a:xfrm>
            <a:off x="-12506" y="6375044"/>
            <a:ext cx="9918506" cy="482956"/>
            <a:chOff x="0" y="0"/>
            <a:chExt cx="13224675" cy="643941"/>
          </a:xfrm>
        </p:grpSpPr>
        <p:sp>
          <p:nvSpPr>
            <p:cNvPr id="5" name="Freeform 5"/>
            <p:cNvSpPr/>
            <p:nvPr/>
          </p:nvSpPr>
          <p:spPr>
            <a:xfrm>
              <a:off x="0" y="0"/>
              <a:ext cx="13224638" cy="643890"/>
            </a:xfrm>
            <a:custGeom>
              <a:avLst/>
              <a:gdLst/>
              <a:ahLst/>
              <a:cxnLst/>
              <a:rect l="l" t="t" r="r" b="b"/>
              <a:pathLst>
                <a:path w="13224638" h="643890">
                  <a:moveTo>
                    <a:pt x="0" y="0"/>
                  </a:moveTo>
                  <a:lnTo>
                    <a:pt x="13224638" y="0"/>
                  </a:lnTo>
                  <a:lnTo>
                    <a:pt x="13224638" y="643890"/>
                  </a:lnTo>
                  <a:lnTo>
                    <a:pt x="0" y="643890"/>
                  </a:lnTo>
                  <a:close/>
                </a:path>
              </a:pathLst>
            </a:custGeom>
            <a:solidFill>
              <a:srgbClr val="0070C0"/>
            </a:solidFill>
          </p:spPr>
        </p:sp>
      </p:grpSp>
      <p:sp>
        <p:nvSpPr>
          <p:cNvPr id="6" name="TextBox 6"/>
          <p:cNvSpPr txBox="1"/>
          <p:nvPr/>
        </p:nvSpPr>
        <p:spPr>
          <a:xfrm>
            <a:off x="91440" y="1244422"/>
            <a:ext cx="9723120" cy="685324"/>
          </a:xfrm>
          <a:prstGeom prst="rect">
            <a:avLst/>
          </a:prstGeom>
        </p:spPr>
        <p:txBody>
          <a:bodyPr lIns="0" tIns="0" rIns="0" bIns="0" rtlCol="0" anchor="t">
            <a:spAutoFit/>
          </a:bodyPr>
          <a:lstStyle/>
          <a:p>
            <a:pPr algn="ctr">
              <a:lnSpc>
                <a:spcPts val="2879"/>
              </a:lnSpc>
            </a:pPr>
            <a:r>
              <a:rPr lang="en-US" sz="2400" b="1">
                <a:solidFill>
                  <a:srgbClr val="0070C0"/>
                </a:solidFill>
                <a:latin typeface="Calibri (MS) Bold"/>
                <a:ea typeface="Calibri (MS) Bold"/>
                <a:cs typeface="Calibri (MS) Bold"/>
                <a:sym typeface="Calibri (MS) Bold"/>
              </a:rPr>
              <a:t>1st National Conference on Advances in Civil Engineering</a:t>
            </a:r>
          </a:p>
          <a:p>
            <a:pPr algn="ctr">
              <a:lnSpc>
                <a:spcPts val="2160"/>
              </a:lnSpc>
            </a:pPr>
            <a:r>
              <a:rPr lang="en-US" sz="1800">
                <a:solidFill>
                  <a:srgbClr val="0070C0"/>
                </a:solidFill>
                <a:latin typeface="Calibri (MS)"/>
                <a:ea typeface="Calibri (MS)"/>
                <a:cs typeface="Calibri (MS)"/>
                <a:sym typeface="Calibri (MS)"/>
              </a:rPr>
              <a:t>Organised by </a:t>
            </a:r>
          </a:p>
        </p:txBody>
      </p:sp>
      <p:sp>
        <p:nvSpPr>
          <p:cNvPr id="7" name="TextBox 7"/>
          <p:cNvSpPr txBox="1"/>
          <p:nvPr/>
        </p:nvSpPr>
        <p:spPr>
          <a:xfrm>
            <a:off x="78934" y="272567"/>
            <a:ext cx="9735626" cy="521913"/>
          </a:xfrm>
          <a:prstGeom prst="rect">
            <a:avLst/>
          </a:prstGeom>
        </p:spPr>
        <p:txBody>
          <a:bodyPr lIns="0" tIns="0" rIns="0" bIns="0" rtlCol="0" anchor="t">
            <a:spAutoFit/>
          </a:bodyPr>
          <a:lstStyle/>
          <a:p>
            <a:pPr algn="ctr">
              <a:lnSpc>
                <a:spcPts val="3840"/>
              </a:lnSpc>
            </a:pPr>
            <a:r>
              <a:rPr lang="en-US" sz="3200" b="1">
                <a:solidFill>
                  <a:srgbClr val="0070C0"/>
                </a:solidFill>
                <a:latin typeface="Arimo Bold"/>
                <a:ea typeface="Arimo Bold"/>
                <a:cs typeface="Arimo Bold"/>
                <a:sym typeface="Arimo Bold"/>
              </a:rPr>
              <a:t>NCACE 2026</a:t>
            </a:r>
          </a:p>
        </p:txBody>
      </p:sp>
      <p:sp>
        <p:nvSpPr>
          <p:cNvPr id="8" name="TextBox 8"/>
          <p:cNvSpPr txBox="1"/>
          <p:nvPr/>
        </p:nvSpPr>
        <p:spPr>
          <a:xfrm>
            <a:off x="3576428" y="781412"/>
            <a:ext cx="2740628" cy="277892"/>
          </a:xfrm>
          <a:prstGeom prst="rect">
            <a:avLst/>
          </a:prstGeom>
        </p:spPr>
        <p:txBody>
          <a:bodyPr lIns="0" tIns="0" rIns="0" bIns="0" rtlCol="0" anchor="t">
            <a:spAutoFit/>
          </a:bodyPr>
          <a:lstStyle/>
          <a:p>
            <a:pPr algn="ctr">
              <a:lnSpc>
                <a:spcPts val="2160"/>
              </a:lnSpc>
            </a:pPr>
            <a:r>
              <a:rPr lang="en-US" sz="1800" b="1" spc="-10">
                <a:solidFill>
                  <a:srgbClr val="0070C0"/>
                </a:solidFill>
                <a:latin typeface="TT Rounds Condensed Bold"/>
                <a:ea typeface="TT Rounds Condensed Bold"/>
                <a:cs typeface="TT Rounds Condensed Bold"/>
                <a:sym typeface="TT Rounds Condensed Bold"/>
              </a:rPr>
              <a:t>(13 - 14 March 2026)</a:t>
            </a:r>
          </a:p>
        </p:txBody>
      </p:sp>
      <p:sp>
        <p:nvSpPr>
          <p:cNvPr id="9" name="TextBox 9"/>
          <p:cNvSpPr txBox="1"/>
          <p:nvPr/>
        </p:nvSpPr>
        <p:spPr>
          <a:xfrm>
            <a:off x="91440" y="1979514"/>
            <a:ext cx="9723120" cy="562213"/>
          </a:xfrm>
          <a:prstGeom prst="rect">
            <a:avLst/>
          </a:prstGeom>
        </p:spPr>
        <p:txBody>
          <a:bodyPr lIns="0" tIns="0" rIns="0" bIns="0" rtlCol="0" anchor="t">
            <a:spAutoFit/>
          </a:bodyPr>
          <a:lstStyle/>
          <a:p>
            <a:pPr algn="ctr">
              <a:lnSpc>
                <a:spcPts val="2160"/>
              </a:lnSpc>
            </a:pPr>
            <a:r>
              <a:rPr lang="en-US" sz="1800">
                <a:solidFill>
                  <a:srgbClr val="0070C0"/>
                </a:solidFill>
                <a:latin typeface="Calibri (MS)"/>
                <a:ea typeface="Calibri (MS)"/>
                <a:cs typeface="Calibri (MS)"/>
                <a:sym typeface="Calibri (MS)"/>
              </a:rPr>
              <a:t>Department of Civil Engineering, Motihari College of Engineering, Motihari </a:t>
            </a:r>
          </a:p>
          <a:p>
            <a:pPr algn="ctr">
              <a:lnSpc>
                <a:spcPts val="1920"/>
              </a:lnSpc>
            </a:pPr>
            <a:r>
              <a:rPr lang="en-US" sz="1600">
                <a:solidFill>
                  <a:srgbClr val="0070C0"/>
                </a:solidFill>
                <a:latin typeface="Calibri (MS)"/>
                <a:ea typeface="Calibri (MS)"/>
                <a:cs typeface="Calibri (MS)"/>
                <a:sym typeface="Calibri (MS)"/>
              </a:rPr>
              <a:t>East Champaran-845401, Bihar (India)</a:t>
            </a:r>
          </a:p>
        </p:txBody>
      </p:sp>
      <p:grpSp>
        <p:nvGrpSpPr>
          <p:cNvPr id="10" name="Group 10"/>
          <p:cNvGrpSpPr/>
          <p:nvPr/>
        </p:nvGrpSpPr>
        <p:grpSpPr>
          <a:xfrm>
            <a:off x="474564" y="182585"/>
            <a:ext cx="1161288" cy="1105024"/>
            <a:chOff x="0" y="0"/>
            <a:chExt cx="1548384" cy="1473365"/>
          </a:xfrm>
        </p:grpSpPr>
        <p:sp>
          <p:nvSpPr>
            <p:cNvPr id="11" name="Freeform 11"/>
            <p:cNvSpPr/>
            <p:nvPr/>
          </p:nvSpPr>
          <p:spPr>
            <a:xfrm>
              <a:off x="0" y="0"/>
              <a:ext cx="1548384" cy="1473327"/>
            </a:xfrm>
            <a:custGeom>
              <a:avLst/>
              <a:gdLst/>
              <a:ahLst/>
              <a:cxnLst/>
              <a:rect l="l" t="t" r="r" b="b"/>
              <a:pathLst>
                <a:path w="1548384" h="1473327">
                  <a:moveTo>
                    <a:pt x="0" y="0"/>
                  </a:moveTo>
                  <a:lnTo>
                    <a:pt x="1548384" y="0"/>
                  </a:lnTo>
                  <a:lnTo>
                    <a:pt x="1548384" y="1473327"/>
                  </a:lnTo>
                  <a:lnTo>
                    <a:pt x="0" y="1473327"/>
                  </a:lnTo>
                  <a:lnTo>
                    <a:pt x="0" y="0"/>
                  </a:lnTo>
                  <a:close/>
                </a:path>
              </a:pathLst>
            </a:custGeom>
            <a:blipFill>
              <a:blip r:embed="rId4"/>
              <a:stretch>
                <a:fillRect l="-81" r="-82" b="-2"/>
              </a:stretch>
            </a:blipFill>
          </p:spPr>
        </p:sp>
      </p:grpSp>
      <p:sp>
        <p:nvSpPr>
          <p:cNvPr id="12" name="TextBox 12"/>
          <p:cNvSpPr txBox="1"/>
          <p:nvPr/>
        </p:nvSpPr>
        <p:spPr>
          <a:xfrm>
            <a:off x="1371600" y="2838212"/>
            <a:ext cx="2642673" cy="421782"/>
          </a:xfrm>
          <a:prstGeom prst="rect">
            <a:avLst/>
          </a:prstGeom>
        </p:spPr>
        <p:txBody>
          <a:bodyPr wrap="square" lIns="0" tIns="0" rIns="0" bIns="0" rtlCol="0" anchor="t">
            <a:spAutoFit/>
          </a:bodyPr>
          <a:lstStyle/>
          <a:p>
            <a:pPr algn="l">
              <a:lnSpc>
                <a:spcPts val="3359"/>
              </a:lnSpc>
            </a:pPr>
            <a:r>
              <a:rPr lang="en-US" sz="2799" b="1" dirty="0">
                <a:solidFill>
                  <a:srgbClr val="002060"/>
                </a:solidFill>
                <a:latin typeface="Calibri (MS) Bold"/>
                <a:ea typeface="Calibri (MS) Bold"/>
                <a:cs typeface="Calibri (MS) Bold"/>
                <a:sym typeface="Calibri (MS) Bold"/>
              </a:rPr>
              <a:t>Table of Content</a:t>
            </a:r>
          </a:p>
        </p:txBody>
      </p:sp>
      <p:sp>
        <p:nvSpPr>
          <p:cNvPr id="13" name="TextBox 13"/>
          <p:cNvSpPr txBox="1"/>
          <p:nvPr/>
        </p:nvSpPr>
        <p:spPr>
          <a:xfrm>
            <a:off x="1371600" y="3503975"/>
            <a:ext cx="7719279" cy="2811667"/>
          </a:xfrm>
          <a:prstGeom prst="rect">
            <a:avLst/>
          </a:prstGeom>
        </p:spPr>
        <p:txBody>
          <a:bodyPr lIns="0" tIns="0" rIns="0" bIns="0" rtlCol="0" anchor="t">
            <a:spAutoFit/>
          </a:bodyPr>
          <a:lstStyle/>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Introduction</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Related research / works</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Current research gap</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Our Objective</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Methodology</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Result Analysis</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Conclusion</a:t>
            </a:r>
          </a:p>
          <a:p>
            <a:pPr marL="342900" indent="-342900" algn="l">
              <a:lnSpc>
                <a:spcPts val="2160"/>
              </a:lnSpc>
              <a:buAutoNum type="arabicPeriod"/>
            </a:pPr>
            <a:r>
              <a:rPr lang="en-US" b="1" dirty="0">
                <a:solidFill>
                  <a:srgbClr val="58595B"/>
                </a:solidFill>
                <a:latin typeface="Calibri (MS) Bold"/>
                <a:ea typeface="Calibri (MS)"/>
                <a:cs typeface="Calibri (MS) Bold"/>
                <a:sym typeface="Calibri (MS) Bold"/>
              </a:rPr>
              <a:t>Future Research</a:t>
            </a:r>
          </a:p>
          <a:p>
            <a:pPr marL="342900" indent="-342900" algn="l">
              <a:lnSpc>
                <a:spcPts val="2160"/>
              </a:lnSpc>
              <a:buAutoNum type="arabicPeriod"/>
            </a:pPr>
            <a:endParaRPr lang="en-US" b="1" dirty="0">
              <a:solidFill>
                <a:srgbClr val="58595B"/>
              </a:solidFill>
              <a:latin typeface="Calibri (MS) Bold"/>
              <a:ea typeface="Calibri (MS)"/>
              <a:cs typeface="Calibri (MS) Bold"/>
              <a:sym typeface="Calibri (MS) Bold"/>
            </a:endParaRPr>
          </a:p>
          <a:p>
            <a:pPr marL="342900" indent="-342900" algn="l">
              <a:lnSpc>
                <a:spcPts val="2160"/>
              </a:lnSpc>
              <a:buAutoNum type="arabicPeriod"/>
            </a:pPr>
            <a:endParaRPr lang="en-US" sz="1800" dirty="0">
              <a:solidFill>
                <a:srgbClr val="58595B"/>
              </a:solidFill>
              <a:latin typeface="Calibri (MS)"/>
              <a:ea typeface="Calibri (MS)"/>
              <a:cs typeface="Calibri (MS)"/>
              <a:sym typeface="Calibri (MS)"/>
            </a:endParaRPr>
          </a:p>
        </p:txBody>
      </p:sp>
    </p:spTree>
  </p:cSld>
  <p:clrMapOvr>
    <a:masterClrMapping/>
  </p:clrMapOvr>
  <mc:AlternateContent xmlns:mc="http://schemas.openxmlformats.org/markup-compatibility/2006">
    <mc:Choice xmlns:p14="http://schemas.microsoft.com/office/powerpoint/2010/main" Requires="p14">
      <p:transition p14:dur="0">
        <p:sndAc>
          <p:stSnd>
            <p:snd r:embed="rId3" name="bomb.wav"/>
          </p:stSnd>
        </p:sndAc>
      </p:transition>
    </mc:Choice>
    <mc:Fallback>
      <p:transition>
        <p:sndAc>
          <p:stSnd>
            <p:snd r:embed="rId3" name="bomb.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685800"/>
            <a:chOff x="0" y="0"/>
            <a:chExt cx="13224675" cy="914400"/>
          </a:xfrm>
        </p:grpSpPr>
        <p:sp>
          <p:nvSpPr>
            <p:cNvPr id="6" name="Freeform 6"/>
            <p:cNvSpPr/>
            <p:nvPr/>
          </p:nvSpPr>
          <p:spPr>
            <a:xfrm>
              <a:off x="0" y="0"/>
              <a:ext cx="13224638" cy="914400"/>
            </a:xfrm>
            <a:custGeom>
              <a:avLst/>
              <a:gdLst/>
              <a:ahLst/>
              <a:cxnLst/>
              <a:rect l="l" t="t" r="r" b="b"/>
              <a:pathLst>
                <a:path w="13224638" h="914400">
                  <a:moveTo>
                    <a:pt x="0" y="0"/>
                  </a:moveTo>
                  <a:lnTo>
                    <a:pt x="13224638" y="0"/>
                  </a:lnTo>
                  <a:lnTo>
                    <a:pt x="13224638" y="914400"/>
                  </a:lnTo>
                  <a:lnTo>
                    <a:pt x="0" y="91440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685800" y="990617"/>
            <a:ext cx="7439799" cy="5380772"/>
          </a:xfrm>
          <a:prstGeom prst="rect">
            <a:avLst/>
          </a:prstGeom>
        </p:spPr>
        <p:txBody>
          <a:bodyPr lIns="0" tIns="0" rIns="0" bIns="0" rtlCol="0" anchor="t">
            <a:spAutoFit/>
          </a:bodyPr>
          <a:lstStyle/>
          <a:p>
            <a:pPr marL="368223" lvl="1" indent="-184112" algn="l">
              <a:lnSpc>
                <a:spcPts val="2046"/>
              </a:lnSpc>
              <a:buFont typeface="Arial"/>
              <a:buChar char="•"/>
            </a:pPr>
            <a:r>
              <a:rPr lang="en-US" sz="1705" b="1">
                <a:solidFill>
                  <a:srgbClr val="58595B"/>
                </a:solidFill>
                <a:latin typeface="Calibri (MS) Bold"/>
                <a:ea typeface="Calibri (MS) Bold"/>
                <a:cs typeface="Calibri (MS) Bold"/>
                <a:sym typeface="Calibri (MS) Bold"/>
              </a:rPr>
              <a:t>Importance of Civil Infrastructure</a:t>
            </a:r>
          </a:p>
          <a:p>
            <a:pPr algn="l">
              <a:lnSpc>
                <a:spcPts val="2046"/>
              </a:lnSpc>
            </a:pPr>
            <a:r>
              <a:rPr lang="en-US" sz="1705">
                <a:solidFill>
                  <a:srgbClr val="58595B"/>
                </a:solidFill>
                <a:latin typeface="Calibri (MS)"/>
                <a:ea typeface="Calibri (MS)"/>
                <a:cs typeface="Calibri (MS)"/>
                <a:sym typeface="Calibri (MS)"/>
              </a:rPr>
              <a:t>Civil infrastructure and bridge systems play a crucial role in economic development, transportation efficiency, and social connectivity.</a:t>
            </a:r>
          </a:p>
          <a:p>
            <a:pPr algn="l">
              <a:lnSpc>
                <a:spcPts val="2046"/>
              </a:lnSpc>
            </a:pPr>
            <a:endParaRPr lang="en-US" sz="1705">
              <a:solidFill>
                <a:srgbClr val="58595B"/>
              </a:solidFill>
              <a:latin typeface="Calibri (MS)"/>
              <a:ea typeface="Calibri (MS)"/>
              <a:cs typeface="Calibri (MS)"/>
              <a:sym typeface="Calibri (MS)"/>
            </a:endParaRPr>
          </a:p>
          <a:p>
            <a:pPr marL="368223" lvl="1" indent="-184112" algn="l">
              <a:lnSpc>
                <a:spcPts val="2046"/>
              </a:lnSpc>
              <a:buFont typeface="Arial"/>
              <a:buChar char="•"/>
            </a:pPr>
            <a:r>
              <a:rPr lang="en-US" sz="1705" b="1">
                <a:solidFill>
                  <a:srgbClr val="58595B"/>
                </a:solidFill>
                <a:latin typeface="Calibri (MS) Bold"/>
                <a:ea typeface="Calibri (MS) Bold"/>
                <a:cs typeface="Calibri (MS) Bold"/>
                <a:sym typeface="Calibri (MS) Bold"/>
              </a:rPr>
              <a:t>Limitations of Traditional Construction Method</a:t>
            </a:r>
            <a:r>
              <a:rPr lang="en-US" sz="1705">
                <a:solidFill>
                  <a:srgbClr val="58595B"/>
                </a:solidFill>
                <a:latin typeface="Calibri (MS)"/>
                <a:ea typeface="Calibri (MS)"/>
                <a:cs typeface="Calibri (MS)"/>
                <a:sym typeface="Calibri (MS)"/>
              </a:rPr>
              <a:t>s</a:t>
            </a:r>
          </a:p>
          <a:p>
            <a:pPr algn="l">
              <a:lnSpc>
                <a:spcPts val="2046"/>
              </a:lnSpc>
            </a:pPr>
            <a:r>
              <a:rPr lang="en-US" sz="1705">
                <a:solidFill>
                  <a:srgbClr val="58595B"/>
                </a:solidFill>
                <a:latin typeface="Calibri (MS)"/>
                <a:ea typeface="Calibri (MS)"/>
                <a:cs typeface="Calibri (MS)"/>
                <a:sym typeface="Calibri (MS)"/>
              </a:rPr>
              <a:t>Conventional construction planning mainly relies on manual processes, rule-based systems, and human experience, which can be time-consuming and prone to errors.</a:t>
            </a:r>
          </a:p>
          <a:p>
            <a:pPr algn="l">
              <a:lnSpc>
                <a:spcPts val="2046"/>
              </a:lnSpc>
            </a:pPr>
            <a:endParaRPr lang="en-US" sz="1705">
              <a:solidFill>
                <a:srgbClr val="58595B"/>
              </a:solidFill>
              <a:latin typeface="Calibri (MS)"/>
              <a:ea typeface="Calibri (MS)"/>
              <a:cs typeface="Calibri (MS)"/>
              <a:sym typeface="Calibri (MS)"/>
            </a:endParaRPr>
          </a:p>
          <a:p>
            <a:pPr marL="368223" lvl="1" indent="-184112" algn="l">
              <a:lnSpc>
                <a:spcPts val="2046"/>
              </a:lnSpc>
              <a:buFont typeface="Arial"/>
              <a:buChar char="•"/>
            </a:pPr>
            <a:r>
              <a:rPr lang="en-US" sz="1705" b="1">
                <a:solidFill>
                  <a:srgbClr val="58595B"/>
                </a:solidFill>
                <a:latin typeface="Calibri (MS) Bold"/>
                <a:ea typeface="Calibri (MS) Bold"/>
                <a:cs typeface="Calibri (MS) Bold"/>
                <a:sym typeface="Calibri (MS) Bold"/>
              </a:rPr>
              <a:t>Role of Artificial Intelligence (AI)</a:t>
            </a:r>
          </a:p>
          <a:p>
            <a:pPr algn="l">
              <a:lnSpc>
                <a:spcPts val="2046"/>
              </a:lnSpc>
            </a:pPr>
            <a:r>
              <a:rPr lang="en-US" sz="1705">
                <a:solidFill>
                  <a:srgbClr val="58595B"/>
                </a:solidFill>
                <a:latin typeface="Calibri (MS)"/>
                <a:ea typeface="Calibri (MS)"/>
                <a:cs typeface="Calibri (MS)"/>
                <a:sym typeface="Calibri (MS)"/>
              </a:rPr>
              <a:t>AI has emerged as an advanced technology capable of improving efficiency, accuracy, and predictive analysis in engineering and construction processes.</a:t>
            </a:r>
          </a:p>
          <a:p>
            <a:pPr algn="l">
              <a:lnSpc>
                <a:spcPts val="2046"/>
              </a:lnSpc>
            </a:pPr>
            <a:endParaRPr lang="en-US" sz="1705">
              <a:solidFill>
                <a:srgbClr val="58595B"/>
              </a:solidFill>
              <a:latin typeface="Calibri (MS)"/>
              <a:ea typeface="Calibri (MS)"/>
              <a:cs typeface="Calibri (MS)"/>
              <a:sym typeface="Calibri (MS)"/>
            </a:endParaRPr>
          </a:p>
          <a:p>
            <a:pPr marL="368223" lvl="1" indent="-184112" algn="l">
              <a:lnSpc>
                <a:spcPts val="2046"/>
              </a:lnSpc>
              <a:buFont typeface="Arial"/>
              <a:buChar char="•"/>
            </a:pPr>
            <a:r>
              <a:rPr lang="en-US" sz="1705" b="1">
                <a:solidFill>
                  <a:srgbClr val="58595B"/>
                </a:solidFill>
                <a:latin typeface="Calibri (MS) Bold"/>
                <a:ea typeface="Calibri (MS) Bold"/>
                <a:cs typeface="Calibri (MS) Bold"/>
                <a:sym typeface="Calibri (MS) Bold"/>
              </a:rPr>
              <a:t>Current Use of Building Information Modelling (BIM)</a:t>
            </a:r>
          </a:p>
          <a:p>
            <a:pPr algn="l">
              <a:lnSpc>
                <a:spcPts val="2046"/>
              </a:lnSpc>
            </a:pPr>
            <a:r>
              <a:rPr lang="en-US" sz="1705">
                <a:solidFill>
                  <a:srgbClr val="58595B"/>
                </a:solidFill>
                <a:latin typeface="Calibri (MS)"/>
                <a:ea typeface="Calibri (MS)"/>
                <a:cs typeface="Calibri (MS)"/>
                <a:sym typeface="Calibri (MS)"/>
              </a:rPr>
              <a:t>BIM enhances design coordination, visualization, and information management, but it mainly functions as a modelling and data management tool without intelligent decision-making capabilities.</a:t>
            </a:r>
          </a:p>
          <a:p>
            <a:pPr algn="l">
              <a:lnSpc>
                <a:spcPts val="2046"/>
              </a:lnSpc>
            </a:pPr>
            <a:endParaRPr lang="en-US" sz="1705">
              <a:solidFill>
                <a:srgbClr val="58595B"/>
              </a:solidFill>
              <a:latin typeface="Calibri (MS)"/>
              <a:ea typeface="Calibri (MS)"/>
              <a:cs typeface="Calibri (MS)"/>
              <a:sym typeface="Calibri (MS)"/>
            </a:endParaRPr>
          </a:p>
          <a:p>
            <a:pPr marL="368223" lvl="1" indent="-184112" algn="l">
              <a:lnSpc>
                <a:spcPts val="2046"/>
              </a:lnSpc>
              <a:buFont typeface="Arial"/>
              <a:buChar char="•"/>
            </a:pPr>
            <a:r>
              <a:rPr lang="en-US" sz="1705" b="1">
                <a:solidFill>
                  <a:srgbClr val="58595B"/>
                </a:solidFill>
                <a:latin typeface="Calibri (MS) Bold"/>
                <a:ea typeface="Calibri (MS) Bold"/>
                <a:cs typeface="Calibri (MS) Bold"/>
                <a:sym typeface="Calibri (MS) Bold"/>
              </a:rPr>
              <a:t>Need for AI–BIM Integration</a:t>
            </a:r>
          </a:p>
          <a:p>
            <a:pPr algn="l">
              <a:lnSpc>
                <a:spcPts val="2046"/>
              </a:lnSpc>
            </a:pPr>
            <a:r>
              <a:rPr lang="en-US" sz="1705">
                <a:solidFill>
                  <a:srgbClr val="58595B"/>
                </a:solidFill>
                <a:latin typeface="Calibri (MS)"/>
                <a:ea typeface="Calibri (MS)"/>
                <a:cs typeface="Calibri (MS)"/>
                <a:sym typeface="Calibri (MS)"/>
              </a:rPr>
              <a:t>Integrating AI with BIM can enable automated analysis, optimized workflows, and data-driven decision-making, especially during the preliminary engineering and pre-construction planning phases.</a:t>
            </a:r>
          </a:p>
        </p:txBody>
      </p:sp>
      <p:sp>
        <p:nvSpPr>
          <p:cNvPr id="10" name="TextBox 10"/>
          <p:cNvSpPr txBox="1"/>
          <p:nvPr/>
        </p:nvSpPr>
        <p:spPr>
          <a:xfrm>
            <a:off x="879739" y="134264"/>
            <a:ext cx="2047518" cy="447675"/>
          </a:xfrm>
          <a:prstGeom prst="rect">
            <a:avLst/>
          </a:prstGeom>
        </p:spPr>
        <p:txBody>
          <a:bodyPr lIns="0" tIns="0" rIns="0" bIns="0" rtlCol="0" anchor="t">
            <a:spAutoFit/>
          </a:bodyPr>
          <a:lstStyle/>
          <a:p>
            <a:pPr algn="l">
              <a:lnSpc>
                <a:spcPts val="3120"/>
              </a:lnSpc>
            </a:pPr>
            <a:r>
              <a:rPr lang="en-US" sz="2600" b="1">
                <a:solidFill>
                  <a:srgbClr val="002060"/>
                </a:solidFill>
                <a:latin typeface="Calibri (MS) Bold"/>
                <a:ea typeface="Calibri (MS) Bold"/>
                <a:cs typeface="Calibri (MS) Bold"/>
                <a:sym typeface="Calibri (MS) Bold"/>
              </a:rPr>
              <a:t>1. Introduction</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302285"/>
            <a:ext cx="4506158"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2. Related Work / Current Works</a:t>
            </a:r>
          </a:p>
        </p:txBody>
      </p:sp>
      <p:sp>
        <p:nvSpPr>
          <p:cNvPr id="10" name="TextBox 10"/>
          <p:cNvSpPr txBox="1"/>
          <p:nvPr/>
        </p:nvSpPr>
        <p:spPr>
          <a:xfrm>
            <a:off x="378254" y="943215"/>
            <a:ext cx="9136986" cy="5612735"/>
          </a:xfrm>
          <a:prstGeom prst="rect">
            <a:avLst/>
          </a:prstGeom>
        </p:spPr>
        <p:txBody>
          <a:bodyPr lIns="0" tIns="0" rIns="0" bIns="0" rtlCol="0" anchor="t">
            <a:spAutoFit/>
          </a:bodyPr>
          <a:lstStyle/>
          <a:p>
            <a:pPr marL="373132" lvl="1" indent="-186566" algn="l">
              <a:lnSpc>
                <a:spcPts val="2073"/>
              </a:lnSpc>
              <a:buFont typeface="Arial"/>
              <a:buChar char="•"/>
            </a:pPr>
            <a:r>
              <a:rPr lang="en-US" sz="1728">
                <a:solidFill>
                  <a:srgbClr val="58595B"/>
                </a:solidFill>
                <a:latin typeface="Times New Roman MT"/>
                <a:ea typeface="Times New Roman MT"/>
                <a:cs typeface="Times New Roman MT"/>
                <a:sym typeface="Times New Roman MT"/>
              </a:rPr>
              <a:t> </a:t>
            </a:r>
            <a:r>
              <a:rPr lang="en-US" sz="1728" b="1">
                <a:solidFill>
                  <a:srgbClr val="58595B"/>
                </a:solidFill>
                <a:latin typeface="Times New Roman MT Bold"/>
                <a:ea typeface="Times New Roman MT Bold"/>
                <a:cs typeface="Times New Roman MT Bold"/>
                <a:sym typeface="Times New Roman MT Bold"/>
              </a:rPr>
              <a:t>AI and Machine Learning in Construction Planning</a:t>
            </a:r>
          </a:p>
          <a:p>
            <a:pPr algn="l">
              <a:lnSpc>
                <a:spcPts val="2073"/>
              </a:lnSpc>
            </a:pPr>
            <a:r>
              <a:rPr lang="en-US" sz="1728">
                <a:solidFill>
                  <a:srgbClr val="58595B"/>
                </a:solidFill>
                <a:latin typeface="Times New Roman MT"/>
                <a:ea typeface="Times New Roman MT"/>
                <a:cs typeface="Times New Roman MT"/>
                <a:sym typeface="Times New Roman MT"/>
              </a:rPr>
              <a:t>Recent studies review how AI and ML are applied across different phases of construction projects, improving planning, scheduling, and risk prediction, but highlight that systematic integration across the full project lifecycle is still limited. </a:t>
            </a:r>
          </a:p>
          <a:p>
            <a:pPr algn="l">
              <a:lnSpc>
                <a:spcPts val="1491"/>
              </a:lnSpc>
            </a:pPr>
            <a:r>
              <a:rPr lang="en-US" sz="1243" b="1">
                <a:solidFill>
                  <a:srgbClr val="58595B"/>
                </a:solidFill>
                <a:latin typeface="Times New Roman MT Bold"/>
                <a:ea typeface="Times New Roman MT Bold"/>
                <a:cs typeface="Times New Roman MT Bold"/>
                <a:sym typeface="Times New Roman MT Bold"/>
              </a:rPr>
              <a:t>Taken from : Science Direct</a:t>
            </a:r>
          </a:p>
          <a:p>
            <a:pPr algn="l">
              <a:lnSpc>
                <a:spcPts val="2073"/>
              </a:lnSpc>
            </a:pPr>
            <a:r>
              <a:rPr lang="en-US" sz="1728">
                <a:solidFill>
                  <a:srgbClr val="58595B"/>
                </a:solidFill>
                <a:latin typeface="Times New Roman MT"/>
                <a:ea typeface="Times New Roman MT"/>
                <a:cs typeface="Times New Roman MT"/>
                <a:sym typeface="Times New Roman MT"/>
              </a:rPr>
              <a:t> </a:t>
            </a:r>
          </a:p>
          <a:p>
            <a:pPr algn="l">
              <a:lnSpc>
                <a:spcPts val="2073"/>
              </a:lnSpc>
            </a:pPr>
            <a:r>
              <a:rPr lang="en-US" sz="1728">
                <a:solidFill>
                  <a:srgbClr val="58595B"/>
                </a:solidFill>
                <a:latin typeface="Times New Roman MT"/>
                <a:ea typeface="Times New Roman MT"/>
                <a:cs typeface="Times New Roman MT"/>
                <a:sym typeface="Times New Roman MT"/>
              </a:rPr>
              <a:t>    • </a:t>
            </a:r>
            <a:r>
              <a:rPr lang="en-US" sz="1728" b="1">
                <a:solidFill>
                  <a:srgbClr val="58595B"/>
                </a:solidFill>
                <a:latin typeface="Times New Roman MT Bold"/>
                <a:ea typeface="Times New Roman MT Bold"/>
                <a:cs typeface="Times New Roman MT Bold"/>
                <a:sym typeface="Times New Roman MT Bold"/>
              </a:rPr>
              <a:t>AI–BIM Integration for Smart Construction</a:t>
            </a:r>
          </a:p>
          <a:p>
            <a:pPr algn="l">
              <a:lnSpc>
                <a:spcPts val="2073"/>
              </a:lnSpc>
            </a:pPr>
            <a:r>
              <a:rPr lang="en-US" sz="1728">
                <a:solidFill>
                  <a:srgbClr val="58595B"/>
                </a:solidFill>
                <a:latin typeface="Times New Roman MT"/>
                <a:ea typeface="Times New Roman MT"/>
                <a:cs typeface="Times New Roman MT"/>
                <a:sym typeface="Times New Roman MT"/>
              </a:rPr>
              <a:t>Research shows that combining Artificial Intelligence with Building Information Modelling (BIM) can improve decision-making, productivity, and project efficiency throughout the design and construction lifecycle. </a:t>
            </a:r>
          </a:p>
          <a:p>
            <a:pPr algn="l">
              <a:lnSpc>
                <a:spcPts val="1491"/>
              </a:lnSpc>
            </a:pPr>
            <a:r>
              <a:rPr lang="en-US" sz="1243" b="1">
                <a:solidFill>
                  <a:srgbClr val="58595B"/>
                </a:solidFill>
                <a:latin typeface="Times New Roman MT Bold"/>
                <a:ea typeface="Times New Roman MT Bold"/>
                <a:cs typeface="Times New Roman MT Bold"/>
                <a:sym typeface="Times New Roman MT Bold"/>
              </a:rPr>
              <a:t>Taken from : Springer link</a:t>
            </a:r>
          </a:p>
          <a:p>
            <a:pPr algn="l">
              <a:lnSpc>
                <a:spcPts val="2073"/>
              </a:lnSpc>
            </a:pPr>
            <a:endParaRPr lang="en-US" sz="1243" b="1">
              <a:solidFill>
                <a:srgbClr val="58595B"/>
              </a:solidFill>
              <a:latin typeface="Times New Roman MT Bold"/>
              <a:ea typeface="Times New Roman MT Bold"/>
              <a:cs typeface="Times New Roman MT Bold"/>
              <a:sym typeface="Times New Roman MT Bold"/>
            </a:endParaRPr>
          </a:p>
          <a:p>
            <a:pPr algn="l">
              <a:lnSpc>
                <a:spcPts val="2073"/>
              </a:lnSpc>
            </a:pPr>
            <a:r>
              <a:rPr lang="en-US" sz="1728">
                <a:solidFill>
                  <a:srgbClr val="58595B"/>
                </a:solidFill>
                <a:latin typeface="Times New Roman MT"/>
                <a:ea typeface="Times New Roman MT"/>
                <a:cs typeface="Times New Roman MT"/>
                <a:sym typeface="Times New Roman MT"/>
              </a:rPr>
              <a:t>    • </a:t>
            </a:r>
            <a:r>
              <a:rPr lang="en-US" sz="1728" b="1">
                <a:solidFill>
                  <a:srgbClr val="58595B"/>
                </a:solidFill>
                <a:latin typeface="Times New Roman MT Bold"/>
                <a:ea typeface="Times New Roman MT Bold"/>
                <a:cs typeface="Times New Roman MT Bold"/>
                <a:sym typeface="Times New Roman MT Bold"/>
              </a:rPr>
              <a:t>AI-Driven Automation in Construction Workflows</a:t>
            </a:r>
          </a:p>
          <a:p>
            <a:pPr algn="l">
              <a:lnSpc>
                <a:spcPts val="2073"/>
              </a:lnSpc>
            </a:pPr>
            <a:r>
              <a:rPr lang="en-US" sz="1728">
                <a:solidFill>
                  <a:srgbClr val="58595B"/>
                </a:solidFill>
                <a:latin typeface="Times New Roman MT"/>
                <a:ea typeface="Times New Roman MT"/>
                <a:cs typeface="Times New Roman MT"/>
                <a:sym typeface="Times New Roman MT"/>
              </a:rPr>
              <a:t>Recent frameworks use AI with BIM data and digital twin systems to automate tasks such as construction scheduling, constraint checking, and planning analysis, enabling more intelligent project management. </a:t>
            </a:r>
          </a:p>
          <a:p>
            <a:pPr algn="l">
              <a:lnSpc>
                <a:spcPts val="1500"/>
              </a:lnSpc>
            </a:pPr>
            <a:r>
              <a:rPr lang="en-US" sz="1250" b="1">
                <a:solidFill>
                  <a:srgbClr val="58595B"/>
                </a:solidFill>
                <a:latin typeface="Times New Roman MT Bold"/>
                <a:ea typeface="Times New Roman MT Bold"/>
                <a:cs typeface="Times New Roman MT Bold"/>
                <a:sym typeface="Times New Roman MT Bold"/>
              </a:rPr>
              <a:t>Taken from : MPDI</a:t>
            </a:r>
          </a:p>
          <a:p>
            <a:pPr algn="l">
              <a:lnSpc>
                <a:spcPts val="2073"/>
              </a:lnSpc>
            </a:pPr>
            <a:endParaRPr lang="en-US" sz="1250" b="1">
              <a:solidFill>
                <a:srgbClr val="58595B"/>
              </a:solidFill>
              <a:latin typeface="Times New Roman MT Bold"/>
              <a:ea typeface="Times New Roman MT Bold"/>
              <a:cs typeface="Times New Roman MT Bold"/>
              <a:sym typeface="Times New Roman MT Bold"/>
            </a:endParaRPr>
          </a:p>
          <a:p>
            <a:pPr algn="l">
              <a:lnSpc>
                <a:spcPts val="2073"/>
              </a:lnSpc>
            </a:pPr>
            <a:r>
              <a:rPr lang="en-US" sz="1728">
                <a:solidFill>
                  <a:srgbClr val="58595B"/>
                </a:solidFill>
                <a:latin typeface="Times New Roman MT"/>
                <a:ea typeface="Times New Roman MT"/>
                <a:cs typeface="Times New Roman MT"/>
                <a:sym typeface="Times New Roman MT"/>
              </a:rPr>
              <a:t>    • </a:t>
            </a:r>
            <a:r>
              <a:rPr lang="en-US" sz="1728" b="1">
                <a:solidFill>
                  <a:srgbClr val="58595B"/>
                </a:solidFill>
                <a:latin typeface="Times New Roman MT Bold"/>
                <a:ea typeface="Times New Roman MT Bold"/>
                <a:cs typeface="Times New Roman MT Bold"/>
                <a:sym typeface="Times New Roman MT Bold"/>
              </a:rPr>
              <a:t>Machine Learning Enhancement of BIM Systems</a:t>
            </a:r>
          </a:p>
          <a:p>
            <a:pPr algn="l">
              <a:lnSpc>
                <a:spcPts val="2073"/>
              </a:lnSpc>
            </a:pPr>
            <a:r>
              <a:rPr lang="en-US" sz="1728">
                <a:solidFill>
                  <a:srgbClr val="58595B"/>
                </a:solidFill>
                <a:latin typeface="Times New Roman MT"/>
                <a:ea typeface="Times New Roman MT"/>
                <a:cs typeface="Times New Roman MT"/>
                <a:sym typeface="Times New Roman MT"/>
              </a:rPr>
              <a:t>Studies indicate that ML algorithms integrated with BIM can optimize processes like delay prediction, cost estimation, and safety monitoring, making projects more efficient and sustainable</a:t>
            </a:r>
          </a:p>
          <a:p>
            <a:pPr algn="l">
              <a:lnSpc>
                <a:spcPts val="1491"/>
              </a:lnSpc>
            </a:pPr>
            <a:r>
              <a:rPr lang="en-US" sz="1243" b="1">
                <a:solidFill>
                  <a:srgbClr val="58595B"/>
                </a:solidFill>
                <a:latin typeface="Times New Roman MT Bold"/>
                <a:ea typeface="Times New Roman MT Bold"/>
                <a:cs typeface="Times New Roman MT Bold"/>
                <a:sym typeface="Times New Roman MT Bold"/>
              </a:rPr>
              <a:t>Taken from : Springer link</a:t>
            </a:r>
          </a:p>
          <a:p>
            <a:pPr algn="l">
              <a:lnSpc>
                <a:spcPts val="2073"/>
              </a:lnSpc>
            </a:pPr>
            <a:endParaRPr lang="en-US" sz="1243" b="1">
              <a:solidFill>
                <a:srgbClr val="58595B"/>
              </a:solidFill>
              <a:latin typeface="Times New Roman MT Bold"/>
              <a:ea typeface="Times New Roman MT Bold"/>
              <a:cs typeface="Times New Roman MT Bold"/>
              <a:sym typeface="Times New Roman MT Bold"/>
            </a:endParaRP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302285"/>
            <a:ext cx="2332911"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3. Research Gaps</a:t>
            </a:r>
          </a:p>
        </p:txBody>
      </p:sp>
      <p:sp>
        <p:nvSpPr>
          <p:cNvPr id="10" name="TextBox 10"/>
          <p:cNvSpPr txBox="1"/>
          <p:nvPr/>
        </p:nvSpPr>
        <p:spPr>
          <a:xfrm>
            <a:off x="281097" y="1130482"/>
            <a:ext cx="9356313" cy="5041718"/>
          </a:xfrm>
          <a:prstGeom prst="rect">
            <a:avLst/>
          </a:prstGeom>
        </p:spPr>
        <p:txBody>
          <a:bodyPr lIns="0" tIns="0" rIns="0" bIns="0" rtlCol="0" anchor="t">
            <a:spAutoFit/>
          </a:bodyPr>
          <a:lstStyle/>
          <a:p>
            <a:pPr marL="382089" lvl="1" indent="-191044" algn="l">
              <a:lnSpc>
                <a:spcPts val="2123"/>
              </a:lnSpc>
              <a:buFont typeface="Arial"/>
              <a:buChar char="•"/>
            </a:pPr>
            <a:r>
              <a:rPr lang="en-US" sz="1769" b="1">
                <a:solidFill>
                  <a:srgbClr val="58595B"/>
                </a:solidFill>
                <a:latin typeface="Times New Roman MT Bold"/>
                <a:ea typeface="Times New Roman MT Bold"/>
                <a:cs typeface="Times New Roman MT Bold"/>
                <a:sym typeface="Times New Roman MT Bold"/>
              </a:rPr>
              <a:t>Limited Integration of AI and BIM</a:t>
            </a:r>
          </a:p>
          <a:p>
            <a:pPr algn="l">
              <a:lnSpc>
                <a:spcPts val="2123"/>
              </a:lnSpc>
            </a:pPr>
            <a:r>
              <a:rPr lang="en-US" sz="1769">
                <a:solidFill>
                  <a:srgbClr val="58595B"/>
                </a:solidFill>
                <a:latin typeface="Times New Roman MT"/>
                <a:ea typeface="Times New Roman MT"/>
                <a:cs typeface="Times New Roman MT"/>
                <a:sym typeface="Times New Roman MT"/>
              </a:rPr>
              <a:t>Most existing studies apply Artificial Intelligence (AI) and Building Information Modelling (BIM) separately, with limited research focusing on their integrated application for intelligent construction planning.</a:t>
            </a:r>
          </a:p>
          <a:p>
            <a:pPr algn="l">
              <a:lnSpc>
                <a:spcPts val="2123"/>
              </a:lnSpc>
            </a:pPr>
            <a:endParaRPr lang="en-US" sz="1769">
              <a:solidFill>
                <a:srgbClr val="58595B"/>
              </a:solidFill>
              <a:latin typeface="Times New Roman MT"/>
              <a:ea typeface="Times New Roman MT"/>
              <a:cs typeface="Times New Roman MT"/>
              <a:sym typeface="Times New Roman MT"/>
            </a:endParaRPr>
          </a:p>
          <a:p>
            <a:pPr algn="l">
              <a:lnSpc>
                <a:spcPts val="2123"/>
              </a:lnSpc>
            </a:pPr>
            <a:r>
              <a:rPr lang="en-US" sz="1769">
                <a:solidFill>
                  <a:srgbClr val="58595B"/>
                </a:solidFill>
                <a:latin typeface="Times New Roman MT"/>
                <a:ea typeface="Times New Roman MT"/>
                <a:cs typeface="Times New Roman MT"/>
                <a:sym typeface="Times New Roman MT"/>
              </a:rPr>
              <a:t>   • </a:t>
            </a:r>
            <a:r>
              <a:rPr lang="en-US" sz="1769" b="1">
                <a:solidFill>
                  <a:srgbClr val="58595B"/>
                </a:solidFill>
                <a:latin typeface="Times New Roman MT Bold"/>
                <a:ea typeface="Times New Roman MT Bold"/>
                <a:cs typeface="Times New Roman MT Bold"/>
                <a:sym typeface="Times New Roman MT Bold"/>
              </a:rPr>
              <a:t>Focus on Isolated Engineering Tasks</a:t>
            </a:r>
          </a:p>
          <a:p>
            <a:pPr algn="l">
              <a:lnSpc>
                <a:spcPts val="2123"/>
              </a:lnSpc>
            </a:pPr>
            <a:r>
              <a:rPr lang="en-US" sz="1769">
                <a:solidFill>
                  <a:srgbClr val="58595B"/>
                </a:solidFill>
                <a:latin typeface="Times New Roman MT"/>
                <a:ea typeface="Times New Roman MT"/>
                <a:cs typeface="Times New Roman MT"/>
                <a:sym typeface="Times New Roman MT"/>
              </a:rPr>
              <a:t>Current AI applications in civil engineering mainly address specific tasks such as structural analysis, cost estimation, or risk prediction, rather than providing a comprehensive planning framework.</a:t>
            </a:r>
          </a:p>
          <a:p>
            <a:pPr algn="l">
              <a:lnSpc>
                <a:spcPts val="2123"/>
              </a:lnSpc>
            </a:pPr>
            <a:endParaRPr lang="en-US" sz="1769">
              <a:solidFill>
                <a:srgbClr val="58595B"/>
              </a:solidFill>
              <a:latin typeface="Times New Roman MT"/>
              <a:ea typeface="Times New Roman MT"/>
              <a:cs typeface="Times New Roman MT"/>
              <a:sym typeface="Times New Roman MT"/>
            </a:endParaRPr>
          </a:p>
          <a:p>
            <a:pPr algn="l">
              <a:lnSpc>
                <a:spcPts val="2123"/>
              </a:lnSpc>
            </a:pPr>
            <a:r>
              <a:rPr lang="en-US" sz="1769">
                <a:solidFill>
                  <a:srgbClr val="58595B"/>
                </a:solidFill>
                <a:latin typeface="Times New Roman MT"/>
                <a:ea typeface="Times New Roman MT"/>
                <a:cs typeface="Times New Roman MT"/>
                <a:sym typeface="Times New Roman MT"/>
              </a:rPr>
              <a:t>   • </a:t>
            </a:r>
            <a:r>
              <a:rPr lang="en-US" sz="1769" b="1">
                <a:solidFill>
                  <a:srgbClr val="58595B"/>
                </a:solidFill>
                <a:latin typeface="Times New Roman MT Bold"/>
                <a:ea typeface="Times New Roman MT Bold"/>
                <a:cs typeface="Times New Roman MT Bold"/>
                <a:sym typeface="Times New Roman MT Bold"/>
              </a:rPr>
              <a:t>Lack of Intelligent Support in Early Project Phases</a:t>
            </a:r>
          </a:p>
          <a:p>
            <a:pPr algn="l">
              <a:lnSpc>
                <a:spcPts val="2123"/>
              </a:lnSpc>
            </a:pPr>
            <a:r>
              <a:rPr lang="en-US" sz="1769">
                <a:solidFill>
                  <a:srgbClr val="58595B"/>
                </a:solidFill>
                <a:latin typeface="Times New Roman MT"/>
                <a:ea typeface="Times New Roman MT"/>
                <a:cs typeface="Times New Roman MT"/>
                <a:sym typeface="Times New Roman MT"/>
              </a:rPr>
              <a:t>The Preliminary Engineering and Pre-Construction Planning phases still rely heavily on manual analysis and experience-based decision-making, with minimal AI-driven automation.</a:t>
            </a:r>
          </a:p>
          <a:p>
            <a:pPr algn="l">
              <a:lnSpc>
                <a:spcPts val="2123"/>
              </a:lnSpc>
            </a:pPr>
            <a:endParaRPr lang="en-US" sz="1769">
              <a:solidFill>
                <a:srgbClr val="58595B"/>
              </a:solidFill>
              <a:latin typeface="Times New Roman MT"/>
              <a:ea typeface="Times New Roman MT"/>
              <a:cs typeface="Times New Roman MT"/>
              <a:sym typeface="Times New Roman MT"/>
            </a:endParaRPr>
          </a:p>
          <a:p>
            <a:pPr algn="l">
              <a:lnSpc>
                <a:spcPts val="2123"/>
              </a:lnSpc>
            </a:pPr>
            <a:r>
              <a:rPr lang="en-US" sz="1769">
                <a:solidFill>
                  <a:srgbClr val="58595B"/>
                </a:solidFill>
                <a:latin typeface="Times New Roman MT"/>
                <a:ea typeface="Times New Roman MT"/>
                <a:cs typeface="Times New Roman MT"/>
                <a:sym typeface="Times New Roman MT"/>
              </a:rPr>
              <a:t>   • </a:t>
            </a:r>
            <a:r>
              <a:rPr lang="en-US" sz="1769" b="1">
                <a:solidFill>
                  <a:srgbClr val="58595B"/>
                </a:solidFill>
                <a:latin typeface="Times New Roman MT Bold"/>
                <a:ea typeface="Times New Roman MT Bold"/>
                <a:cs typeface="Times New Roman MT Bold"/>
                <a:sym typeface="Times New Roman MT Bold"/>
              </a:rPr>
              <a:t>Need for Data-Driven Decision Systems</a:t>
            </a:r>
          </a:p>
          <a:p>
            <a:pPr algn="l">
              <a:lnSpc>
                <a:spcPts val="2123"/>
              </a:lnSpc>
            </a:pPr>
            <a:r>
              <a:rPr lang="en-US" sz="1769">
                <a:solidFill>
                  <a:srgbClr val="58595B"/>
                </a:solidFill>
                <a:latin typeface="Times New Roman MT"/>
                <a:ea typeface="Times New Roman MT"/>
                <a:cs typeface="Times New Roman MT"/>
                <a:sym typeface="Times New Roman MT"/>
              </a:rPr>
              <a:t>There is a need to develop AI-enabled models integrated with BIM that can support automated recognition, efficient workflow optimization, and intelligent decision-making in infrastructure development.</a:t>
            </a:r>
          </a:p>
          <a:p>
            <a:pPr algn="l">
              <a:lnSpc>
                <a:spcPts val="2123"/>
              </a:lnSpc>
            </a:pPr>
            <a:endParaRPr lang="en-US" sz="1769">
              <a:solidFill>
                <a:srgbClr val="58595B"/>
              </a:solidFill>
              <a:latin typeface="Times New Roman MT"/>
              <a:ea typeface="Times New Roman MT"/>
              <a:cs typeface="Times New Roman MT"/>
              <a:sym typeface="Times New Roman MT"/>
            </a:endParaRP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302285"/>
            <a:ext cx="2304574"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4. Our Objective </a:t>
            </a:r>
          </a:p>
        </p:txBody>
      </p:sp>
      <p:sp>
        <p:nvSpPr>
          <p:cNvPr id="10" name="TextBox 10"/>
          <p:cNvSpPr txBox="1"/>
          <p:nvPr/>
        </p:nvSpPr>
        <p:spPr>
          <a:xfrm>
            <a:off x="194792" y="1271292"/>
            <a:ext cx="9528923" cy="4393510"/>
          </a:xfrm>
          <a:prstGeom prst="rect">
            <a:avLst/>
          </a:prstGeom>
        </p:spPr>
        <p:txBody>
          <a:bodyPr lIns="0" tIns="0" rIns="0" bIns="0" rtlCol="0" anchor="t">
            <a:spAutoFit/>
          </a:bodyPr>
          <a:lstStyle/>
          <a:p>
            <a:pPr algn="l">
              <a:lnSpc>
                <a:spcPts val="2162"/>
              </a:lnSpc>
            </a:pPr>
            <a:r>
              <a:rPr lang="en-US" sz="1802" b="1" dirty="0">
                <a:solidFill>
                  <a:srgbClr val="2C2D2E"/>
                </a:solidFill>
                <a:latin typeface="Times New Roman MT"/>
                <a:ea typeface="Times New Roman MT"/>
                <a:cs typeface="Times New Roman MT"/>
                <a:sym typeface="Times New Roman MT"/>
              </a:rPr>
              <a:t>• To develop an AI-based intelligent framework for supporting bridge design &amp; other infrastructure design during the preliminary engineering and pre-construction planning phases.</a:t>
            </a:r>
          </a:p>
          <a:p>
            <a:pPr algn="l">
              <a:lnSpc>
                <a:spcPts val="2162"/>
              </a:lnSpc>
            </a:pPr>
            <a:endParaRPr lang="en-US" sz="1802" b="1" dirty="0">
              <a:solidFill>
                <a:srgbClr val="2C2D2E"/>
              </a:solidFill>
              <a:latin typeface="Times New Roman MT"/>
              <a:ea typeface="Times New Roman MT"/>
              <a:cs typeface="Times New Roman MT"/>
              <a:sym typeface="Times New Roman MT"/>
            </a:endParaRPr>
          </a:p>
          <a:p>
            <a:pPr algn="l">
              <a:lnSpc>
                <a:spcPts val="2162"/>
              </a:lnSpc>
            </a:pPr>
            <a:r>
              <a:rPr lang="en-US" sz="1802" b="1" dirty="0">
                <a:solidFill>
                  <a:srgbClr val="2C2D2E"/>
                </a:solidFill>
                <a:latin typeface="Times New Roman MT"/>
                <a:ea typeface="Times New Roman MT"/>
                <a:cs typeface="Times New Roman MT"/>
                <a:sym typeface="Times New Roman MT"/>
              </a:rPr>
              <a:t>• To integrate civil engineering datasets, formulas, and structural calculations into an automated decision-support system.</a:t>
            </a:r>
          </a:p>
          <a:p>
            <a:pPr algn="l">
              <a:lnSpc>
                <a:spcPts val="2162"/>
              </a:lnSpc>
            </a:pPr>
            <a:endParaRPr lang="en-US" sz="1802" b="1" dirty="0">
              <a:solidFill>
                <a:srgbClr val="2C2D2E"/>
              </a:solidFill>
              <a:latin typeface="Times New Roman MT"/>
              <a:ea typeface="Times New Roman MT"/>
              <a:cs typeface="Times New Roman MT"/>
              <a:sym typeface="Times New Roman MT"/>
            </a:endParaRPr>
          </a:p>
          <a:p>
            <a:pPr algn="l">
              <a:lnSpc>
                <a:spcPts val="2162"/>
              </a:lnSpc>
            </a:pPr>
            <a:r>
              <a:rPr lang="en-US" sz="1802" b="1" dirty="0">
                <a:solidFill>
                  <a:srgbClr val="2C2D2E"/>
                </a:solidFill>
                <a:latin typeface="Times New Roman MT"/>
                <a:ea typeface="Times New Roman MT"/>
                <a:cs typeface="Times New Roman MT"/>
                <a:sym typeface="Times New Roman MT"/>
              </a:rPr>
              <a:t>• To use AI models for recommending suitable bridge structures and design strategies based on engineering parameters and soil conditions.</a:t>
            </a:r>
          </a:p>
          <a:p>
            <a:pPr algn="l">
              <a:lnSpc>
                <a:spcPts val="2162"/>
              </a:lnSpc>
            </a:pPr>
            <a:endParaRPr lang="en-US" sz="1802" b="1" dirty="0">
              <a:solidFill>
                <a:srgbClr val="2C2D2E"/>
              </a:solidFill>
              <a:latin typeface="Times New Roman MT"/>
              <a:ea typeface="Times New Roman MT"/>
              <a:cs typeface="Times New Roman MT"/>
              <a:sym typeface="Times New Roman MT"/>
            </a:endParaRPr>
          </a:p>
          <a:p>
            <a:pPr algn="l">
              <a:lnSpc>
                <a:spcPts val="2162"/>
              </a:lnSpc>
            </a:pPr>
            <a:r>
              <a:rPr lang="en-US" sz="1802" b="1" dirty="0">
                <a:solidFill>
                  <a:srgbClr val="2C2D2E"/>
                </a:solidFill>
                <a:latin typeface="Times New Roman MT"/>
                <a:ea typeface="Times New Roman MT"/>
                <a:cs typeface="Times New Roman MT"/>
                <a:sym typeface="Times New Roman MT"/>
              </a:rPr>
              <a:t>• To generate automated outputs such as technical drawings, 3D visualizations, cost estimations, and engineering reports.</a:t>
            </a:r>
          </a:p>
          <a:p>
            <a:pPr algn="l">
              <a:lnSpc>
                <a:spcPts val="3507"/>
              </a:lnSpc>
            </a:pPr>
            <a:endParaRPr lang="en-US" sz="1802" b="1" dirty="0">
              <a:solidFill>
                <a:srgbClr val="2C2D2E"/>
              </a:solidFill>
              <a:latin typeface="Times New Roman MT"/>
              <a:ea typeface="Times New Roman MT"/>
              <a:cs typeface="Times New Roman MT"/>
              <a:sym typeface="Times New Roman MT"/>
            </a:endParaRPr>
          </a:p>
          <a:p>
            <a:pPr algn="l">
              <a:lnSpc>
                <a:spcPts val="2162"/>
              </a:lnSpc>
            </a:pPr>
            <a:r>
              <a:rPr lang="en-US" sz="1802" b="1" dirty="0">
                <a:solidFill>
                  <a:srgbClr val="2C2D2E"/>
                </a:solidFill>
                <a:latin typeface="Times New Roman MT"/>
                <a:ea typeface="Times New Roman MT"/>
                <a:cs typeface="Times New Roman MT"/>
                <a:sym typeface="Times New Roman MT"/>
              </a:rPr>
              <a:t>• To demonstrate how AI-driven infrastructure planning can improve efficiency, reduce manual effort, and support data-driven civil engineering decisions.</a:t>
            </a:r>
          </a:p>
          <a:p>
            <a:pPr algn="l">
              <a:lnSpc>
                <a:spcPts val="2162"/>
              </a:lnSpc>
            </a:pPr>
            <a:endParaRPr lang="en-US" sz="1802" b="1" dirty="0">
              <a:solidFill>
                <a:srgbClr val="2C2D2E"/>
              </a:solidFill>
              <a:latin typeface="Times New Roman MT"/>
              <a:ea typeface="Times New Roman MT"/>
              <a:cs typeface="Times New Roman MT"/>
              <a:sym typeface="Times New Roman MT"/>
            </a:endParaRP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Freeform 9"/>
          <p:cNvSpPr/>
          <p:nvPr/>
        </p:nvSpPr>
        <p:spPr>
          <a:xfrm>
            <a:off x="1182510" y="911171"/>
            <a:ext cx="7553486" cy="5035657"/>
          </a:xfrm>
          <a:custGeom>
            <a:avLst/>
            <a:gdLst/>
            <a:ahLst/>
            <a:cxnLst/>
            <a:rect l="l" t="t" r="r" b="b"/>
            <a:pathLst>
              <a:path w="7553486" h="5035657">
                <a:moveTo>
                  <a:pt x="0" y="0"/>
                </a:moveTo>
                <a:lnTo>
                  <a:pt x="7553486" y="0"/>
                </a:lnTo>
                <a:lnTo>
                  <a:pt x="7553486" y="5035658"/>
                </a:lnTo>
                <a:lnTo>
                  <a:pt x="0" y="5035658"/>
                </a:lnTo>
                <a:lnTo>
                  <a:pt x="0" y="0"/>
                </a:lnTo>
                <a:close/>
              </a:path>
            </a:pathLst>
          </a:custGeom>
          <a:blipFill>
            <a:blip r:embed="rId3"/>
            <a:stretch>
              <a:fillRect/>
            </a:stretch>
          </a:blipFill>
        </p:spPr>
      </p:sp>
      <p:sp>
        <p:nvSpPr>
          <p:cNvPr id="10" name="TextBox 10"/>
          <p:cNvSpPr txBox="1"/>
          <p:nvPr/>
        </p:nvSpPr>
        <p:spPr>
          <a:xfrm>
            <a:off x="916943" y="302285"/>
            <a:ext cx="4119205"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5. Proposed Methodology [A] </a:t>
            </a:r>
          </a:p>
        </p:txBody>
      </p:sp>
      <p:sp>
        <p:nvSpPr>
          <p:cNvPr id="11" name="TextBox 11"/>
          <p:cNvSpPr txBox="1"/>
          <p:nvPr/>
        </p:nvSpPr>
        <p:spPr>
          <a:xfrm>
            <a:off x="587903" y="6143625"/>
            <a:ext cx="8742701" cy="409575"/>
          </a:xfrm>
          <a:prstGeom prst="rect">
            <a:avLst/>
          </a:prstGeom>
        </p:spPr>
        <p:txBody>
          <a:bodyPr lIns="0" tIns="0" rIns="0" bIns="0" rtlCol="0" anchor="t">
            <a:spAutoFit/>
          </a:bodyPr>
          <a:lstStyle/>
          <a:p>
            <a:pPr algn="l">
              <a:lnSpc>
                <a:spcPts val="1512"/>
              </a:lnSpc>
            </a:pPr>
            <a:r>
              <a:rPr lang="en-US" sz="1260" b="1">
                <a:solidFill>
                  <a:srgbClr val="000000"/>
                </a:solidFill>
                <a:latin typeface="Times New Roman MT Bold"/>
                <a:ea typeface="Times New Roman MT Bold"/>
                <a:cs typeface="Times New Roman MT Bold"/>
                <a:sym typeface="Times New Roman MT Bold"/>
              </a:rPr>
              <a:t>Fig. 1. End-to-end workflow of the proposed AI-powered bridge design system, showing input processing, engineering calculations, AI-based structural recommendations, 3D visualization, cost estimation, and automated report generation.</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302285"/>
            <a:ext cx="4104204"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5. Proposed Methodology [B] </a:t>
            </a:r>
          </a:p>
        </p:txBody>
      </p:sp>
      <p:sp>
        <p:nvSpPr>
          <p:cNvPr id="10" name="TextBox 10"/>
          <p:cNvSpPr txBox="1"/>
          <p:nvPr/>
        </p:nvSpPr>
        <p:spPr>
          <a:xfrm>
            <a:off x="251284" y="1076128"/>
            <a:ext cx="9403433" cy="5571818"/>
          </a:xfrm>
          <a:prstGeom prst="rect">
            <a:avLst/>
          </a:prstGeom>
        </p:spPr>
        <p:txBody>
          <a:bodyPr lIns="0" tIns="0" rIns="0" bIns="0" rtlCol="0" anchor="t">
            <a:spAutoFit/>
          </a:bodyPr>
          <a:lstStyle/>
          <a:p>
            <a:pPr algn="l">
              <a:lnSpc>
                <a:spcPts val="2420"/>
              </a:lnSpc>
            </a:pPr>
            <a:r>
              <a:rPr lang="en-US" sz="2017" b="1">
                <a:solidFill>
                  <a:srgbClr val="58595B"/>
                </a:solidFill>
                <a:latin typeface="Times New Roman MT Bold"/>
                <a:ea typeface="Times New Roman MT Bold"/>
                <a:cs typeface="Times New Roman MT Bold"/>
                <a:sym typeface="Times New Roman MT Bold"/>
              </a:rPr>
              <a:t>Step 1 – Input Collection</a:t>
            </a:r>
          </a:p>
          <a:p>
            <a:pPr algn="l">
              <a:lnSpc>
                <a:spcPts val="2420"/>
              </a:lnSpc>
            </a:pPr>
            <a:r>
              <a:rPr lang="en-US" sz="2017">
                <a:solidFill>
                  <a:srgbClr val="58595B"/>
                </a:solidFill>
                <a:latin typeface="Times New Roman MT"/>
                <a:ea typeface="Times New Roman MT"/>
                <a:cs typeface="Times New Roman MT"/>
                <a:sym typeface="Times New Roman MT"/>
              </a:rPr>
              <a:t>User provides basic bridge design parameters such as traffic load, soil type, span length, width, and lane configuration.</a:t>
            </a: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r>
              <a:rPr lang="en-US" sz="2017" b="1">
                <a:solidFill>
                  <a:srgbClr val="58595B"/>
                </a:solidFill>
                <a:latin typeface="Times New Roman MT Bold"/>
                <a:ea typeface="Times New Roman MT Bold"/>
                <a:cs typeface="Times New Roman MT Bold"/>
                <a:sym typeface="Times New Roman MT Bold"/>
              </a:rPr>
              <a:t>Step 2 – Formula Dataset &amp; Trace Setup</a:t>
            </a:r>
          </a:p>
          <a:p>
            <a:pPr algn="l">
              <a:lnSpc>
                <a:spcPts val="2420"/>
              </a:lnSpc>
            </a:pPr>
            <a:r>
              <a:rPr lang="en-US" sz="2017">
                <a:solidFill>
                  <a:srgbClr val="58595B"/>
                </a:solidFill>
                <a:latin typeface="Times New Roman MT"/>
                <a:ea typeface="Times New Roman MT"/>
                <a:cs typeface="Times New Roman MT"/>
                <a:sym typeface="Times New Roman MT"/>
              </a:rPr>
              <a:t>The system loads a civil engineering formula dataset containing standard design equations and references (IRC/IS/BIS) required for bridge calculations.</a:t>
            </a:r>
          </a:p>
          <a:p>
            <a:pPr algn="l">
              <a:lnSpc>
                <a:spcPts val="2420"/>
              </a:lnSpc>
            </a:pPr>
            <a:endParaRPr lang="en-US" sz="2017">
              <a:solidFill>
                <a:srgbClr val="58595B"/>
              </a:solidFill>
              <a:latin typeface="Times New Roman MT"/>
              <a:ea typeface="Times New Roman MT"/>
              <a:cs typeface="Times New Roman MT"/>
              <a:sym typeface="Times New Roman MT"/>
            </a:endParaRPr>
          </a:p>
          <a:p>
            <a:pPr algn="l">
              <a:lnSpc>
                <a:spcPts val="2420"/>
              </a:lnSpc>
            </a:pPr>
            <a:r>
              <a:rPr lang="en-US" sz="2017" b="1">
                <a:solidFill>
                  <a:srgbClr val="58595B"/>
                </a:solidFill>
                <a:latin typeface="Times New Roman MT Bold"/>
                <a:ea typeface="Times New Roman MT Bold"/>
                <a:cs typeface="Times New Roman MT Bold"/>
                <a:sym typeface="Times New Roman MT Bold"/>
              </a:rPr>
              <a:t>Step 3 – Core Engineering Calculations</a:t>
            </a:r>
          </a:p>
          <a:p>
            <a:pPr algn="l">
              <a:lnSpc>
                <a:spcPts val="2420"/>
              </a:lnSpc>
            </a:pPr>
            <a:r>
              <a:rPr lang="en-US" sz="2017">
                <a:solidFill>
                  <a:srgbClr val="58595B"/>
                </a:solidFill>
                <a:latin typeface="Times New Roman MT"/>
                <a:ea typeface="Times New Roman MT"/>
                <a:cs typeface="Times New Roman MT"/>
                <a:sym typeface="Times New Roman MT"/>
              </a:rPr>
              <a:t>The calculation engine performs structural computations such as traffic load analysis and design parameter evaluation using the stored formulas.</a:t>
            </a:r>
          </a:p>
          <a:p>
            <a:pPr algn="l">
              <a:lnSpc>
                <a:spcPts val="2420"/>
              </a:lnSpc>
            </a:pPr>
            <a:endParaRPr lang="en-US" sz="2017">
              <a:solidFill>
                <a:srgbClr val="58595B"/>
              </a:solidFill>
              <a:latin typeface="Times New Roman MT"/>
              <a:ea typeface="Times New Roman MT"/>
              <a:cs typeface="Times New Roman MT"/>
              <a:sym typeface="Times New Roman MT"/>
            </a:endParaRPr>
          </a:p>
        </p:txBody>
      </p:sp>
      <p:sp>
        <p:nvSpPr>
          <p:cNvPr id="11" name="Freeform 11"/>
          <p:cNvSpPr/>
          <p:nvPr/>
        </p:nvSpPr>
        <p:spPr>
          <a:xfrm>
            <a:off x="4711912" y="1740994"/>
            <a:ext cx="4037415" cy="2069024"/>
          </a:xfrm>
          <a:custGeom>
            <a:avLst/>
            <a:gdLst/>
            <a:ahLst/>
            <a:cxnLst/>
            <a:rect l="l" t="t" r="r" b="b"/>
            <a:pathLst>
              <a:path w="4037415" h="2069024">
                <a:moveTo>
                  <a:pt x="0" y="0"/>
                </a:moveTo>
                <a:lnTo>
                  <a:pt x="4037415" y="0"/>
                </a:lnTo>
                <a:lnTo>
                  <a:pt x="4037415" y="2069024"/>
                </a:lnTo>
                <a:lnTo>
                  <a:pt x="0" y="2069024"/>
                </a:lnTo>
                <a:lnTo>
                  <a:pt x="0" y="0"/>
                </a:lnTo>
                <a:close/>
              </a:path>
            </a:pathLst>
          </a:custGeom>
          <a:blipFill>
            <a:blip r:embed="rId3"/>
            <a:stretch>
              <a:fillRect l="-7" t="-3647" r="-7"/>
            </a:stretch>
          </a:blipFill>
        </p:spPr>
      </p:sp>
      <p:sp>
        <p:nvSpPr>
          <p:cNvPr id="12" name="TextBox 12"/>
          <p:cNvSpPr txBox="1"/>
          <p:nvPr/>
        </p:nvSpPr>
        <p:spPr>
          <a:xfrm>
            <a:off x="5219814" y="3876325"/>
            <a:ext cx="3207306" cy="171450"/>
          </a:xfrm>
          <a:prstGeom prst="rect">
            <a:avLst/>
          </a:prstGeom>
        </p:spPr>
        <p:txBody>
          <a:bodyPr lIns="0" tIns="0" rIns="0" bIns="0" rtlCol="0" anchor="t">
            <a:spAutoFit/>
          </a:bodyPr>
          <a:lstStyle/>
          <a:p>
            <a:pPr algn="ctr">
              <a:lnSpc>
                <a:spcPts val="1311"/>
              </a:lnSpc>
              <a:spcBef>
                <a:spcPct val="0"/>
              </a:spcBef>
            </a:pPr>
            <a:r>
              <a:rPr lang="en-US" sz="1093" spc="-6">
                <a:solidFill>
                  <a:srgbClr val="000000"/>
                </a:solidFill>
                <a:latin typeface="TT Rounds Condensed"/>
                <a:ea typeface="TT Rounds Condensed"/>
                <a:cs typeface="TT Rounds Condensed"/>
                <a:sym typeface="TT Rounds Condensed"/>
              </a:rPr>
              <a:t>fig : Showing Input Parameters   which is given by the user </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302285"/>
            <a:ext cx="4093845"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5. Proposed Methodology [C] </a:t>
            </a:r>
          </a:p>
        </p:txBody>
      </p:sp>
      <p:sp>
        <p:nvSpPr>
          <p:cNvPr id="10" name="TextBox 10"/>
          <p:cNvSpPr txBox="1"/>
          <p:nvPr/>
        </p:nvSpPr>
        <p:spPr>
          <a:xfrm>
            <a:off x="414157" y="999491"/>
            <a:ext cx="9220200" cy="5172709"/>
          </a:xfrm>
          <a:prstGeom prst="rect">
            <a:avLst/>
          </a:prstGeom>
        </p:spPr>
        <p:txBody>
          <a:bodyPr lIns="0" tIns="0" rIns="0" bIns="0" rtlCol="0" anchor="t">
            <a:spAutoFit/>
          </a:bodyPr>
          <a:lstStyle/>
          <a:p>
            <a:pPr algn="l">
              <a:lnSpc>
                <a:spcPts val="2080"/>
              </a:lnSpc>
            </a:pPr>
            <a:r>
              <a:rPr lang="en-US" sz="1733" b="1">
                <a:solidFill>
                  <a:srgbClr val="2C2D2E"/>
                </a:solidFill>
                <a:latin typeface="Times New Roman MT Bold"/>
                <a:ea typeface="Times New Roman MT Bold"/>
                <a:cs typeface="Times New Roman MT Bold"/>
                <a:sym typeface="Times New Roman MT Bold"/>
              </a:rPr>
              <a:t>Step 4 – Soil Classification &amp; Foundation Selection</a:t>
            </a:r>
          </a:p>
          <a:p>
            <a:pPr algn="l">
              <a:lnSpc>
                <a:spcPts val="2080"/>
              </a:lnSpc>
            </a:pPr>
            <a:r>
              <a:rPr lang="en-US" sz="1733">
                <a:solidFill>
                  <a:srgbClr val="2C2D2E"/>
                </a:solidFill>
                <a:latin typeface="Times New Roman MT"/>
                <a:ea typeface="Times New Roman MT"/>
                <a:cs typeface="Times New Roman MT"/>
                <a:sym typeface="Times New Roman MT"/>
              </a:rPr>
              <a:t>Based on the input soil properties, the system determines soil category (rock, stiff, weak, or mixed) and suggests suitable foundation types.</a:t>
            </a:r>
          </a:p>
          <a:p>
            <a:pPr algn="l">
              <a:lnSpc>
                <a:spcPts val="2080"/>
              </a:lnSpc>
            </a:pPr>
            <a:endParaRPr lang="en-US" sz="1733">
              <a:solidFill>
                <a:srgbClr val="2C2D2E"/>
              </a:solidFill>
              <a:latin typeface="Times New Roman MT"/>
              <a:ea typeface="Times New Roman MT"/>
              <a:cs typeface="Times New Roman MT"/>
              <a:sym typeface="Times New Roman MT"/>
            </a:endParaRPr>
          </a:p>
          <a:p>
            <a:pPr algn="l">
              <a:lnSpc>
                <a:spcPts val="2080"/>
              </a:lnSpc>
            </a:pPr>
            <a:r>
              <a:rPr lang="en-US" sz="1733" b="1">
                <a:solidFill>
                  <a:srgbClr val="2C2D2E"/>
                </a:solidFill>
                <a:latin typeface="Times New Roman MT Bold"/>
                <a:ea typeface="Times New Roman MT Bold"/>
                <a:cs typeface="Times New Roman MT Bold"/>
                <a:sym typeface="Times New Roman MT Bold"/>
              </a:rPr>
              <a:t>Step 5 – AI Structural Recommendation</a:t>
            </a:r>
          </a:p>
          <a:p>
            <a:pPr algn="l">
              <a:lnSpc>
                <a:spcPts val="2080"/>
              </a:lnSpc>
            </a:pPr>
            <a:r>
              <a:rPr lang="en-US" sz="1733">
                <a:solidFill>
                  <a:srgbClr val="2C2D2E"/>
                </a:solidFill>
                <a:latin typeface="Times New Roman MT"/>
                <a:ea typeface="Times New Roman MT"/>
                <a:cs typeface="Times New Roman MT"/>
                <a:sym typeface="Times New Roman MT"/>
              </a:rPr>
              <a:t>The AI module analyzes calculated parameters and recommends the most appropriate bridge type (girder, truss, arch, cable, suspension, or box).</a:t>
            </a:r>
          </a:p>
          <a:p>
            <a:pPr algn="l">
              <a:lnSpc>
                <a:spcPts val="2080"/>
              </a:lnSpc>
            </a:pPr>
            <a:endParaRPr lang="en-US" sz="1733">
              <a:solidFill>
                <a:srgbClr val="2C2D2E"/>
              </a:solidFill>
              <a:latin typeface="Times New Roman MT"/>
              <a:ea typeface="Times New Roman MT"/>
              <a:cs typeface="Times New Roman MT"/>
              <a:sym typeface="Times New Roman MT"/>
            </a:endParaRPr>
          </a:p>
          <a:p>
            <a:pPr algn="l">
              <a:lnSpc>
                <a:spcPts val="2080"/>
              </a:lnSpc>
            </a:pPr>
            <a:r>
              <a:rPr lang="en-US" sz="1733" b="1">
                <a:solidFill>
                  <a:srgbClr val="2C2D2E"/>
                </a:solidFill>
                <a:latin typeface="Times New Roman MT Bold"/>
                <a:ea typeface="Times New Roman MT Bold"/>
                <a:cs typeface="Times New Roman MT Bold"/>
                <a:sym typeface="Times New Roman MT Bold"/>
              </a:rPr>
              <a:t>Step 6 – Drawing &amp; 3D Visualization</a:t>
            </a:r>
          </a:p>
          <a:p>
            <a:pPr algn="l">
              <a:lnSpc>
                <a:spcPts val="2080"/>
              </a:lnSpc>
            </a:pPr>
            <a:r>
              <a:rPr lang="en-US" sz="1733">
                <a:solidFill>
                  <a:srgbClr val="2C2D2E"/>
                </a:solidFill>
                <a:latin typeface="Times New Roman MT"/>
                <a:ea typeface="Times New Roman MT"/>
                <a:cs typeface="Times New Roman MT"/>
                <a:sym typeface="Times New Roman MT"/>
              </a:rPr>
              <a:t>The framework generates engineering drawings (plan, side, front, isometric views) and creates a 3D bridge model using Blender or fallback renderers.</a:t>
            </a:r>
          </a:p>
          <a:p>
            <a:pPr algn="l">
              <a:lnSpc>
                <a:spcPts val="2080"/>
              </a:lnSpc>
            </a:pPr>
            <a:endParaRPr lang="en-US" sz="1733">
              <a:solidFill>
                <a:srgbClr val="2C2D2E"/>
              </a:solidFill>
              <a:latin typeface="Times New Roman MT"/>
              <a:ea typeface="Times New Roman MT"/>
              <a:cs typeface="Times New Roman MT"/>
              <a:sym typeface="Times New Roman MT"/>
            </a:endParaRPr>
          </a:p>
          <a:p>
            <a:pPr algn="l">
              <a:lnSpc>
                <a:spcPts val="2080"/>
              </a:lnSpc>
            </a:pPr>
            <a:r>
              <a:rPr lang="en-US" sz="1733" b="1">
                <a:solidFill>
                  <a:srgbClr val="2C2D2E"/>
                </a:solidFill>
                <a:latin typeface="Times New Roman MT Bold"/>
                <a:ea typeface="Times New Roman MT Bold"/>
                <a:cs typeface="Times New Roman MT Bold"/>
                <a:sym typeface="Times New Roman MT Bold"/>
              </a:rPr>
              <a:t>Step 7 – Cost &amp; Material Estimation</a:t>
            </a:r>
          </a:p>
          <a:p>
            <a:pPr algn="l">
              <a:lnSpc>
                <a:spcPts val="2080"/>
              </a:lnSpc>
            </a:pPr>
            <a:r>
              <a:rPr lang="en-US" sz="1733">
                <a:solidFill>
                  <a:srgbClr val="2C2D2E"/>
                </a:solidFill>
                <a:latin typeface="Times New Roman MT"/>
                <a:ea typeface="Times New Roman MT"/>
                <a:cs typeface="Times New Roman MT"/>
                <a:sym typeface="Times New Roman MT"/>
              </a:rPr>
              <a:t>The system automatically calculates construction cost estimates and material quantities required for the bridge structure.</a:t>
            </a:r>
          </a:p>
          <a:p>
            <a:pPr algn="l">
              <a:lnSpc>
                <a:spcPts val="2080"/>
              </a:lnSpc>
            </a:pPr>
            <a:endParaRPr lang="en-US" sz="1733">
              <a:solidFill>
                <a:srgbClr val="2C2D2E"/>
              </a:solidFill>
              <a:latin typeface="Times New Roman MT"/>
              <a:ea typeface="Times New Roman MT"/>
              <a:cs typeface="Times New Roman MT"/>
              <a:sym typeface="Times New Roman MT"/>
            </a:endParaRPr>
          </a:p>
          <a:p>
            <a:pPr algn="l">
              <a:lnSpc>
                <a:spcPts val="2080"/>
              </a:lnSpc>
            </a:pPr>
            <a:r>
              <a:rPr lang="en-US" sz="1733" b="1">
                <a:solidFill>
                  <a:srgbClr val="2C2D2E"/>
                </a:solidFill>
                <a:latin typeface="Times New Roman MT Bold"/>
                <a:ea typeface="Times New Roman MT Bold"/>
                <a:cs typeface="Times New Roman MT Bold"/>
                <a:sym typeface="Times New Roman MT Bold"/>
              </a:rPr>
              <a:t>Step 8 – Report &amp; Explanation Generation</a:t>
            </a:r>
          </a:p>
          <a:p>
            <a:pPr algn="l">
              <a:lnSpc>
                <a:spcPts val="2080"/>
              </a:lnSpc>
            </a:pPr>
            <a:r>
              <a:rPr lang="en-US" sz="1733">
                <a:solidFill>
                  <a:srgbClr val="2C2D2E"/>
                </a:solidFill>
                <a:latin typeface="Times New Roman MT"/>
                <a:ea typeface="Times New Roman MT"/>
                <a:cs typeface="Times New Roman MT"/>
                <a:sym typeface="Times New Roman MT"/>
              </a:rPr>
              <a:t>Finally, the system produces technical explanations, traceability logs, and a complete bridge design report for decision-making and documentation.</a:t>
            </a:r>
          </a:p>
          <a:p>
            <a:pPr algn="l">
              <a:lnSpc>
                <a:spcPts val="2080"/>
              </a:lnSpc>
            </a:pPr>
            <a:endParaRPr lang="en-US" sz="1733">
              <a:solidFill>
                <a:srgbClr val="2C2D2E"/>
              </a:solidFill>
              <a:latin typeface="Times New Roman MT"/>
              <a:ea typeface="Times New Roman MT"/>
              <a:cs typeface="Times New Roman MT"/>
              <a:sym typeface="Times New Roman MT"/>
            </a:endParaRPr>
          </a:p>
        </p:txBody>
      </p:sp>
      <p:sp>
        <p:nvSpPr>
          <p:cNvPr id="11" name="TextBox 11"/>
          <p:cNvSpPr txBox="1"/>
          <p:nvPr/>
        </p:nvSpPr>
        <p:spPr>
          <a:xfrm>
            <a:off x="3619922" y="6364930"/>
            <a:ext cx="2678661" cy="238125"/>
          </a:xfrm>
          <a:prstGeom prst="rect">
            <a:avLst/>
          </a:prstGeom>
        </p:spPr>
        <p:txBody>
          <a:bodyPr lIns="0" tIns="0" rIns="0" bIns="0" rtlCol="0" anchor="t">
            <a:spAutoFit/>
          </a:bodyPr>
          <a:lstStyle/>
          <a:p>
            <a:pPr algn="l">
              <a:lnSpc>
                <a:spcPts val="1629"/>
              </a:lnSpc>
            </a:pPr>
            <a:r>
              <a:rPr lang="en-US" sz="1358">
                <a:solidFill>
                  <a:srgbClr val="58595B"/>
                </a:solidFill>
                <a:latin typeface="Times New Roman MT"/>
                <a:ea typeface="Times New Roman MT"/>
                <a:cs typeface="Times New Roman MT"/>
                <a:sym typeface="Times New Roman MT"/>
              </a:rPr>
              <a:t>METHODOLOGY ENDS HERE.</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Freeform 9"/>
          <p:cNvSpPr/>
          <p:nvPr/>
        </p:nvSpPr>
        <p:spPr>
          <a:xfrm>
            <a:off x="627773" y="2272111"/>
            <a:ext cx="4557800" cy="1464193"/>
          </a:xfrm>
          <a:custGeom>
            <a:avLst/>
            <a:gdLst/>
            <a:ahLst/>
            <a:cxnLst/>
            <a:rect l="l" t="t" r="r" b="b"/>
            <a:pathLst>
              <a:path w="4557800" h="1464193">
                <a:moveTo>
                  <a:pt x="0" y="0"/>
                </a:moveTo>
                <a:lnTo>
                  <a:pt x="4557799" y="0"/>
                </a:lnTo>
                <a:lnTo>
                  <a:pt x="4557799" y="1464193"/>
                </a:lnTo>
                <a:lnTo>
                  <a:pt x="0" y="1464193"/>
                </a:lnTo>
                <a:lnTo>
                  <a:pt x="0" y="0"/>
                </a:lnTo>
                <a:close/>
              </a:path>
            </a:pathLst>
          </a:custGeom>
          <a:blipFill>
            <a:blip r:embed="rId3"/>
            <a:stretch>
              <a:fillRect/>
            </a:stretch>
          </a:blipFill>
        </p:spPr>
      </p:sp>
      <p:sp>
        <p:nvSpPr>
          <p:cNvPr id="10" name="Freeform 10"/>
          <p:cNvSpPr/>
          <p:nvPr/>
        </p:nvSpPr>
        <p:spPr>
          <a:xfrm>
            <a:off x="554821" y="4837769"/>
            <a:ext cx="3471440" cy="1768733"/>
          </a:xfrm>
          <a:custGeom>
            <a:avLst/>
            <a:gdLst/>
            <a:ahLst/>
            <a:cxnLst/>
            <a:rect l="l" t="t" r="r" b="b"/>
            <a:pathLst>
              <a:path w="3471440" h="1768733">
                <a:moveTo>
                  <a:pt x="0" y="0"/>
                </a:moveTo>
                <a:lnTo>
                  <a:pt x="3471439" y="0"/>
                </a:lnTo>
                <a:lnTo>
                  <a:pt x="3471439" y="1768734"/>
                </a:lnTo>
                <a:lnTo>
                  <a:pt x="0" y="1768734"/>
                </a:lnTo>
                <a:lnTo>
                  <a:pt x="0" y="0"/>
                </a:lnTo>
                <a:close/>
              </a:path>
            </a:pathLst>
          </a:custGeom>
          <a:blipFill>
            <a:blip r:embed="rId4"/>
            <a:stretch>
              <a:fillRect t="-18080" b="-18080"/>
            </a:stretch>
          </a:blipFill>
        </p:spPr>
      </p:sp>
      <p:sp>
        <p:nvSpPr>
          <p:cNvPr id="11" name="Freeform 11"/>
          <p:cNvSpPr/>
          <p:nvPr/>
        </p:nvSpPr>
        <p:spPr>
          <a:xfrm>
            <a:off x="4549071" y="4770522"/>
            <a:ext cx="3582663" cy="1835980"/>
          </a:xfrm>
          <a:custGeom>
            <a:avLst/>
            <a:gdLst/>
            <a:ahLst/>
            <a:cxnLst/>
            <a:rect l="l" t="t" r="r" b="b"/>
            <a:pathLst>
              <a:path w="3582663" h="1835980">
                <a:moveTo>
                  <a:pt x="0" y="0"/>
                </a:moveTo>
                <a:lnTo>
                  <a:pt x="3582664" y="0"/>
                </a:lnTo>
                <a:lnTo>
                  <a:pt x="3582664" y="1835981"/>
                </a:lnTo>
                <a:lnTo>
                  <a:pt x="0" y="1835981"/>
                </a:lnTo>
                <a:lnTo>
                  <a:pt x="0" y="0"/>
                </a:lnTo>
                <a:close/>
              </a:path>
            </a:pathLst>
          </a:custGeom>
          <a:blipFill>
            <a:blip r:embed="rId5"/>
            <a:stretch>
              <a:fillRect l="-7" t="-3647" r="-7"/>
            </a:stretch>
          </a:blipFill>
        </p:spPr>
      </p:sp>
      <p:sp>
        <p:nvSpPr>
          <p:cNvPr id="12" name="TextBox 12"/>
          <p:cNvSpPr txBox="1"/>
          <p:nvPr/>
        </p:nvSpPr>
        <p:spPr>
          <a:xfrm>
            <a:off x="916943" y="302285"/>
            <a:ext cx="3109317"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6. Results/analysis [A] </a:t>
            </a:r>
          </a:p>
        </p:txBody>
      </p:sp>
      <p:sp>
        <p:nvSpPr>
          <p:cNvPr id="13" name="TextBox 13"/>
          <p:cNvSpPr txBox="1"/>
          <p:nvPr/>
        </p:nvSpPr>
        <p:spPr>
          <a:xfrm>
            <a:off x="685800" y="1154049"/>
            <a:ext cx="6292459" cy="970394"/>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 1 – Successful Local AI Execution</a:t>
            </a:r>
          </a:p>
          <a:p>
            <a:pPr algn="l">
              <a:lnSpc>
                <a:spcPts val="1874"/>
              </a:lnSpc>
            </a:pPr>
            <a:r>
              <a:rPr lang="en-US" sz="1562" dirty="0">
                <a:solidFill>
                  <a:srgbClr val="000000"/>
                </a:solidFill>
                <a:latin typeface="Times New Roman MT"/>
                <a:ea typeface="Times New Roman MT"/>
                <a:cs typeface="Times New Roman MT"/>
                <a:sym typeface="Times New Roman MT"/>
              </a:rPr>
              <a:t>The AI model runs locally using Ollama (DeepSeek-7B) with the provided civil engineering datasets, demonstrating independent processing without external API &amp; cloud dependency. </a:t>
            </a:r>
          </a:p>
        </p:txBody>
      </p:sp>
      <p:sp>
        <p:nvSpPr>
          <p:cNvPr id="14" name="TextBox 14"/>
          <p:cNvSpPr txBox="1"/>
          <p:nvPr/>
        </p:nvSpPr>
        <p:spPr>
          <a:xfrm>
            <a:off x="491327" y="3827547"/>
            <a:ext cx="6292459" cy="970394"/>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2 – Dataset Processing &amp; Formula Loading / User input</a:t>
            </a:r>
          </a:p>
          <a:p>
            <a:pPr algn="l">
              <a:lnSpc>
                <a:spcPts val="1874"/>
              </a:lnSpc>
            </a:pPr>
            <a:r>
              <a:rPr lang="en-US" sz="1562" dirty="0">
                <a:solidFill>
                  <a:srgbClr val="000000"/>
                </a:solidFill>
                <a:latin typeface="Times New Roman MT"/>
                <a:ea typeface="Times New Roman MT"/>
                <a:cs typeface="Times New Roman MT"/>
                <a:sym typeface="Times New Roman MT"/>
              </a:rPr>
              <a:t>The system successfully loads the civil engineering formula </a:t>
            </a:r>
            <a:r>
              <a:rPr lang="en-US" sz="1562" b="1" dirty="0">
                <a:solidFill>
                  <a:srgbClr val="000000"/>
                </a:solidFill>
                <a:latin typeface="Times New Roman MT Bold"/>
                <a:ea typeface="Times New Roman MT Bold"/>
                <a:cs typeface="Times New Roman MT Bold"/>
                <a:sym typeface="Times New Roman MT Bold"/>
              </a:rPr>
              <a:t>dataset and engineering references</a:t>
            </a:r>
            <a:r>
              <a:rPr lang="en-US" sz="1562" dirty="0">
                <a:solidFill>
                  <a:srgbClr val="000000"/>
                </a:solidFill>
                <a:latin typeface="Times New Roman MT"/>
                <a:ea typeface="Times New Roman MT"/>
                <a:cs typeface="Times New Roman MT"/>
                <a:sym typeface="Times New Roman MT"/>
              </a:rPr>
              <a:t>, enabling automated structural calculations with the User input.</a:t>
            </a:r>
          </a:p>
        </p:txBody>
      </p:sp>
      <p:sp>
        <p:nvSpPr>
          <p:cNvPr id="15" name="TextBox 15"/>
          <p:cNvSpPr txBox="1"/>
          <p:nvPr/>
        </p:nvSpPr>
        <p:spPr>
          <a:xfrm>
            <a:off x="3627282" y="2087499"/>
            <a:ext cx="1558290" cy="171450"/>
          </a:xfrm>
          <a:prstGeom prst="rect">
            <a:avLst/>
          </a:prstGeom>
        </p:spPr>
        <p:txBody>
          <a:bodyPr lIns="0" tIns="0" rIns="0" bIns="0" rtlCol="0" anchor="t">
            <a:spAutoFit/>
          </a:bodyPr>
          <a:lstStyle/>
          <a:p>
            <a:pPr algn="ctr">
              <a:lnSpc>
                <a:spcPts val="1311"/>
              </a:lnSpc>
              <a:spcBef>
                <a:spcPct val="0"/>
              </a:spcBef>
            </a:pPr>
            <a:r>
              <a:rPr lang="en-US" sz="1093" spc="-6">
                <a:solidFill>
                  <a:srgbClr val="000000"/>
                </a:solidFill>
                <a:latin typeface="TT Rounds Condensed"/>
                <a:ea typeface="TT Rounds Condensed"/>
                <a:cs typeface="TT Rounds Condensed"/>
                <a:sym typeface="TT Rounds Condensed"/>
              </a:rPr>
              <a:t>fig 2: Local AI model running</a:t>
            </a:r>
          </a:p>
        </p:txBody>
      </p:sp>
      <p:sp>
        <p:nvSpPr>
          <p:cNvPr id="16" name="TextBox 16"/>
          <p:cNvSpPr txBox="1"/>
          <p:nvPr/>
        </p:nvSpPr>
        <p:spPr>
          <a:xfrm>
            <a:off x="1426638" y="6472806"/>
            <a:ext cx="2536129" cy="133696"/>
          </a:xfrm>
          <a:prstGeom prst="rect">
            <a:avLst/>
          </a:prstGeom>
        </p:spPr>
        <p:txBody>
          <a:bodyPr lIns="0" tIns="0" rIns="0" bIns="0" rtlCol="0" anchor="t">
            <a:spAutoFit/>
          </a:bodyPr>
          <a:lstStyle/>
          <a:p>
            <a:pPr algn="ctr">
              <a:lnSpc>
                <a:spcPts val="1071"/>
              </a:lnSpc>
              <a:spcBef>
                <a:spcPct val="0"/>
              </a:spcBef>
            </a:pPr>
            <a:r>
              <a:rPr lang="en-US" sz="893" spc="-5">
                <a:solidFill>
                  <a:srgbClr val="FFFFFF"/>
                </a:solidFill>
                <a:latin typeface="TT Rounds Condensed"/>
                <a:ea typeface="TT Rounds Condensed"/>
                <a:cs typeface="TT Rounds Condensed"/>
                <a:sym typeface="TT Rounds Condensed"/>
              </a:rPr>
              <a:t>fig 2.1: Datasets &amp; formula records  6500+ datasets used</a:t>
            </a:r>
          </a:p>
        </p:txBody>
      </p:sp>
      <p:sp>
        <p:nvSpPr>
          <p:cNvPr id="17" name="TextBox 17"/>
          <p:cNvSpPr txBox="1"/>
          <p:nvPr/>
        </p:nvSpPr>
        <p:spPr>
          <a:xfrm>
            <a:off x="5891862" y="6385801"/>
            <a:ext cx="2172794" cy="133696"/>
          </a:xfrm>
          <a:prstGeom prst="rect">
            <a:avLst/>
          </a:prstGeom>
        </p:spPr>
        <p:txBody>
          <a:bodyPr lIns="0" tIns="0" rIns="0" bIns="0" rtlCol="0" anchor="t">
            <a:spAutoFit/>
          </a:bodyPr>
          <a:lstStyle/>
          <a:p>
            <a:pPr algn="ctr">
              <a:lnSpc>
                <a:spcPts val="1071"/>
              </a:lnSpc>
              <a:spcBef>
                <a:spcPct val="0"/>
              </a:spcBef>
            </a:pPr>
            <a:r>
              <a:rPr lang="en-US" sz="893" spc="-5">
                <a:solidFill>
                  <a:srgbClr val="FFFFFF"/>
                </a:solidFill>
                <a:latin typeface="TT Rounds Condensed"/>
                <a:ea typeface="TT Rounds Condensed"/>
                <a:cs typeface="TT Rounds Condensed"/>
                <a:sym typeface="TT Rounds Condensed"/>
              </a:rPr>
              <a:t>fig 2.1.A : User Input  &amp; parameters  given by user</a:t>
            </a:r>
          </a:p>
        </p:txBody>
      </p:sp>
      <p:sp>
        <p:nvSpPr>
          <p:cNvPr id="18" name="TextBox 18"/>
          <p:cNvSpPr txBox="1"/>
          <p:nvPr/>
        </p:nvSpPr>
        <p:spPr>
          <a:xfrm>
            <a:off x="8199697" y="5040366"/>
            <a:ext cx="1349985" cy="1017837"/>
          </a:xfrm>
          <a:prstGeom prst="rect">
            <a:avLst/>
          </a:prstGeom>
        </p:spPr>
        <p:txBody>
          <a:bodyPr lIns="0" tIns="0" rIns="0" bIns="0" rtlCol="0" anchor="t">
            <a:spAutoFit/>
          </a:bodyPr>
          <a:lstStyle/>
          <a:p>
            <a:pPr algn="l">
              <a:lnSpc>
                <a:spcPts val="1170"/>
              </a:lnSpc>
            </a:pPr>
            <a:r>
              <a:rPr lang="en-US" sz="975">
                <a:solidFill>
                  <a:srgbClr val="000000"/>
                </a:solidFill>
                <a:latin typeface="Calibri (MS)"/>
                <a:ea typeface="Calibri (MS)"/>
                <a:cs typeface="Calibri (MS)"/>
                <a:sym typeface="Calibri (MS)"/>
              </a:rPr>
              <a:t>(CURRENT)</a:t>
            </a:r>
          </a:p>
          <a:p>
            <a:pPr algn="l">
              <a:lnSpc>
                <a:spcPts val="1170"/>
              </a:lnSpc>
            </a:pPr>
            <a:r>
              <a:rPr lang="en-US" sz="975">
                <a:solidFill>
                  <a:srgbClr val="000000"/>
                </a:solidFill>
                <a:latin typeface="Calibri (MS)"/>
                <a:ea typeface="Calibri (MS)"/>
                <a:cs typeface="Calibri (MS)"/>
                <a:sym typeface="Calibri (MS)"/>
              </a:rPr>
              <a:t>user input parametrs are: </a:t>
            </a:r>
          </a:p>
          <a:p>
            <a:pPr marL="210509" lvl="1" indent="-105254" algn="l">
              <a:lnSpc>
                <a:spcPts val="1170"/>
              </a:lnSpc>
              <a:buFont typeface="Arial"/>
              <a:buChar char="•"/>
            </a:pPr>
            <a:r>
              <a:rPr lang="en-US" sz="975">
                <a:solidFill>
                  <a:srgbClr val="000000"/>
                </a:solidFill>
                <a:latin typeface="Calibri (MS)"/>
                <a:ea typeface="Calibri (MS)"/>
                <a:cs typeface="Calibri (MS)"/>
                <a:sym typeface="Calibri (MS)"/>
              </a:rPr>
              <a:t>Traffic per minutes</a:t>
            </a:r>
          </a:p>
          <a:p>
            <a:pPr marL="210509" lvl="1" indent="-105254" algn="l">
              <a:lnSpc>
                <a:spcPts val="1170"/>
              </a:lnSpc>
              <a:buFont typeface="Arial"/>
              <a:buChar char="•"/>
            </a:pPr>
            <a:r>
              <a:rPr lang="en-US" sz="975">
                <a:solidFill>
                  <a:srgbClr val="000000"/>
                </a:solidFill>
                <a:latin typeface="Calibri (MS)"/>
                <a:ea typeface="Calibri (MS)"/>
                <a:cs typeface="Calibri (MS)"/>
                <a:sym typeface="Calibri (MS)"/>
              </a:rPr>
              <a:t>type of soil</a:t>
            </a:r>
          </a:p>
          <a:p>
            <a:pPr marL="210509" lvl="1" indent="-105254" algn="l">
              <a:lnSpc>
                <a:spcPts val="1170"/>
              </a:lnSpc>
              <a:buFont typeface="Arial"/>
              <a:buChar char="•"/>
            </a:pPr>
            <a:r>
              <a:rPr lang="en-US" sz="975">
                <a:solidFill>
                  <a:srgbClr val="000000"/>
                </a:solidFill>
                <a:latin typeface="Calibri (MS)"/>
                <a:ea typeface="Calibri (MS)"/>
                <a:cs typeface="Calibri (MS)"/>
                <a:sym typeface="Calibri (MS)"/>
              </a:rPr>
              <a:t>bridge spain</a:t>
            </a:r>
          </a:p>
          <a:p>
            <a:pPr marL="210509" lvl="1" indent="-105254" algn="l">
              <a:lnSpc>
                <a:spcPts val="1170"/>
              </a:lnSpc>
              <a:buFont typeface="Arial"/>
              <a:buChar char="•"/>
            </a:pPr>
            <a:r>
              <a:rPr lang="en-US" sz="975">
                <a:solidFill>
                  <a:srgbClr val="000000"/>
                </a:solidFill>
                <a:latin typeface="Calibri (MS)"/>
                <a:ea typeface="Calibri (MS)"/>
                <a:cs typeface="Calibri (MS)"/>
                <a:sym typeface="Calibri (MS)"/>
              </a:rPr>
              <a:t>deck wedith</a:t>
            </a:r>
          </a:p>
          <a:p>
            <a:pPr marL="210509" lvl="1" indent="-105254" algn="l">
              <a:lnSpc>
                <a:spcPts val="1170"/>
              </a:lnSpc>
              <a:buFont typeface="Arial"/>
              <a:buChar char="•"/>
            </a:pPr>
            <a:r>
              <a:rPr lang="en-US" sz="975">
                <a:solidFill>
                  <a:srgbClr val="000000"/>
                </a:solidFill>
                <a:latin typeface="Calibri (MS)"/>
                <a:ea typeface="Calibri (MS)"/>
                <a:cs typeface="Calibri (MS)"/>
                <a:sym typeface="Calibri (MS)"/>
              </a:rPr>
              <a:t>number of lanes</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sp>
        <p:nvSpPr>
          <p:cNvPr id="9" name="Freeform 9"/>
          <p:cNvSpPr/>
          <p:nvPr/>
        </p:nvSpPr>
        <p:spPr>
          <a:xfrm>
            <a:off x="303443" y="1946826"/>
            <a:ext cx="4880530" cy="1058856"/>
          </a:xfrm>
          <a:custGeom>
            <a:avLst/>
            <a:gdLst/>
            <a:ahLst/>
            <a:cxnLst/>
            <a:rect l="l" t="t" r="r" b="b"/>
            <a:pathLst>
              <a:path w="4880530" h="1058856">
                <a:moveTo>
                  <a:pt x="0" y="0"/>
                </a:moveTo>
                <a:lnTo>
                  <a:pt x="4880530" y="0"/>
                </a:lnTo>
                <a:lnTo>
                  <a:pt x="4880530" y="1058857"/>
                </a:lnTo>
                <a:lnTo>
                  <a:pt x="0" y="1058857"/>
                </a:lnTo>
                <a:lnTo>
                  <a:pt x="0" y="0"/>
                </a:lnTo>
                <a:close/>
              </a:path>
            </a:pathLst>
          </a:custGeom>
          <a:blipFill>
            <a:blip r:embed="rId3"/>
            <a:stretch>
              <a:fillRect r="-909"/>
            </a:stretch>
          </a:blipFill>
        </p:spPr>
      </p:sp>
      <p:sp>
        <p:nvSpPr>
          <p:cNvPr id="10" name="Freeform 10"/>
          <p:cNvSpPr/>
          <p:nvPr/>
        </p:nvSpPr>
        <p:spPr>
          <a:xfrm>
            <a:off x="5786135" y="4562475"/>
            <a:ext cx="1619534" cy="1687015"/>
          </a:xfrm>
          <a:custGeom>
            <a:avLst/>
            <a:gdLst/>
            <a:ahLst/>
            <a:cxnLst/>
            <a:rect l="l" t="t" r="r" b="b"/>
            <a:pathLst>
              <a:path w="1619534" h="1687015">
                <a:moveTo>
                  <a:pt x="0" y="0"/>
                </a:moveTo>
                <a:lnTo>
                  <a:pt x="1619534" y="0"/>
                </a:lnTo>
                <a:lnTo>
                  <a:pt x="1619534" y="1687015"/>
                </a:lnTo>
                <a:lnTo>
                  <a:pt x="0" y="1687015"/>
                </a:lnTo>
                <a:lnTo>
                  <a:pt x="0" y="0"/>
                </a:lnTo>
                <a:close/>
              </a:path>
            </a:pathLst>
          </a:custGeom>
          <a:blipFill>
            <a:blip r:embed="rId4"/>
            <a:stretch>
              <a:fillRect/>
            </a:stretch>
          </a:blipFill>
        </p:spPr>
      </p:sp>
      <p:sp>
        <p:nvSpPr>
          <p:cNvPr id="11" name="Freeform 11"/>
          <p:cNvSpPr/>
          <p:nvPr/>
        </p:nvSpPr>
        <p:spPr>
          <a:xfrm>
            <a:off x="303443" y="4202606"/>
            <a:ext cx="5023399" cy="2511700"/>
          </a:xfrm>
          <a:custGeom>
            <a:avLst/>
            <a:gdLst/>
            <a:ahLst/>
            <a:cxnLst/>
            <a:rect l="l" t="t" r="r" b="b"/>
            <a:pathLst>
              <a:path w="5023399" h="2511700">
                <a:moveTo>
                  <a:pt x="0" y="0"/>
                </a:moveTo>
                <a:lnTo>
                  <a:pt x="5023399" y="0"/>
                </a:lnTo>
                <a:lnTo>
                  <a:pt x="5023399" y="2511700"/>
                </a:lnTo>
                <a:lnTo>
                  <a:pt x="0" y="2511700"/>
                </a:lnTo>
                <a:lnTo>
                  <a:pt x="0" y="0"/>
                </a:lnTo>
                <a:close/>
              </a:path>
            </a:pathLst>
          </a:custGeom>
          <a:blipFill>
            <a:blip r:embed="rId5"/>
            <a:stretch>
              <a:fillRect/>
            </a:stretch>
          </a:blipFill>
        </p:spPr>
      </p:sp>
      <p:sp>
        <p:nvSpPr>
          <p:cNvPr id="12" name="Freeform 12"/>
          <p:cNvSpPr/>
          <p:nvPr/>
        </p:nvSpPr>
        <p:spPr>
          <a:xfrm>
            <a:off x="7656807" y="3428972"/>
            <a:ext cx="1629887" cy="1456712"/>
          </a:xfrm>
          <a:custGeom>
            <a:avLst/>
            <a:gdLst/>
            <a:ahLst/>
            <a:cxnLst/>
            <a:rect l="l" t="t" r="r" b="b"/>
            <a:pathLst>
              <a:path w="1629887" h="1456712">
                <a:moveTo>
                  <a:pt x="0" y="0"/>
                </a:moveTo>
                <a:lnTo>
                  <a:pt x="1629887" y="0"/>
                </a:lnTo>
                <a:lnTo>
                  <a:pt x="1629887" y="1456711"/>
                </a:lnTo>
                <a:lnTo>
                  <a:pt x="0" y="1456711"/>
                </a:lnTo>
                <a:lnTo>
                  <a:pt x="0" y="0"/>
                </a:lnTo>
                <a:close/>
              </a:path>
            </a:pathLst>
          </a:custGeom>
          <a:blipFill>
            <a:blip r:embed="rId6"/>
            <a:stretch>
              <a:fillRect/>
            </a:stretch>
          </a:blipFill>
        </p:spPr>
      </p:sp>
      <p:sp>
        <p:nvSpPr>
          <p:cNvPr id="13" name="Freeform 13"/>
          <p:cNvSpPr/>
          <p:nvPr/>
        </p:nvSpPr>
        <p:spPr>
          <a:xfrm>
            <a:off x="7882969" y="5150484"/>
            <a:ext cx="1794058" cy="1367969"/>
          </a:xfrm>
          <a:custGeom>
            <a:avLst/>
            <a:gdLst/>
            <a:ahLst/>
            <a:cxnLst/>
            <a:rect l="l" t="t" r="r" b="b"/>
            <a:pathLst>
              <a:path w="1794058" h="1367969">
                <a:moveTo>
                  <a:pt x="0" y="0"/>
                </a:moveTo>
                <a:lnTo>
                  <a:pt x="1794058" y="0"/>
                </a:lnTo>
                <a:lnTo>
                  <a:pt x="1794058" y="1367969"/>
                </a:lnTo>
                <a:lnTo>
                  <a:pt x="0" y="1367969"/>
                </a:lnTo>
                <a:lnTo>
                  <a:pt x="0" y="0"/>
                </a:lnTo>
                <a:close/>
              </a:path>
            </a:pathLst>
          </a:custGeom>
          <a:blipFill>
            <a:blip r:embed="rId7"/>
            <a:stretch>
              <a:fillRect/>
            </a:stretch>
          </a:blipFill>
        </p:spPr>
      </p:sp>
      <p:sp>
        <p:nvSpPr>
          <p:cNvPr id="14" name="TextBox 14"/>
          <p:cNvSpPr txBox="1"/>
          <p:nvPr/>
        </p:nvSpPr>
        <p:spPr>
          <a:xfrm>
            <a:off x="916943" y="302285"/>
            <a:ext cx="3094315"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6. Results/analysis [B] </a:t>
            </a:r>
          </a:p>
        </p:txBody>
      </p:sp>
      <p:sp>
        <p:nvSpPr>
          <p:cNvPr id="15" name="TextBox 15"/>
          <p:cNvSpPr txBox="1"/>
          <p:nvPr/>
        </p:nvSpPr>
        <p:spPr>
          <a:xfrm>
            <a:off x="390922" y="1013376"/>
            <a:ext cx="6292459" cy="726737"/>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3 – Automated Engineering Calculations</a:t>
            </a:r>
          </a:p>
          <a:p>
            <a:pPr algn="l">
              <a:lnSpc>
                <a:spcPts val="1874"/>
              </a:lnSpc>
            </a:pPr>
            <a:r>
              <a:rPr lang="en-US" sz="1562" dirty="0">
                <a:solidFill>
                  <a:srgbClr val="000000"/>
                </a:solidFill>
                <a:latin typeface="Times New Roman MT"/>
                <a:ea typeface="Times New Roman MT"/>
                <a:cs typeface="Times New Roman MT"/>
                <a:sym typeface="Times New Roman MT"/>
              </a:rPr>
              <a:t>The calculation engine generates </a:t>
            </a:r>
            <a:r>
              <a:rPr lang="en-US" sz="1562" b="1" dirty="0">
                <a:solidFill>
                  <a:srgbClr val="000000"/>
                </a:solidFill>
                <a:latin typeface="Times New Roman MT Bold"/>
                <a:ea typeface="Times New Roman MT Bold"/>
                <a:cs typeface="Times New Roman MT Bold"/>
                <a:sym typeface="Times New Roman MT Bold"/>
              </a:rPr>
              <a:t>traffic load analysis and structural parameter </a:t>
            </a:r>
            <a:r>
              <a:rPr lang="en-US" sz="1562" dirty="0">
                <a:solidFill>
                  <a:srgbClr val="000000"/>
                </a:solidFill>
                <a:latin typeface="Times New Roman MT"/>
                <a:ea typeface="Times New Roman MT"/>
                <a:cs typeface="Times New Roman MT"/>
                <a:sym typeface="Times New Roman MT"/>
              </a:rPr>
              <a:t>results based on the given bridge design inputs. </a:t>
            </a:r>
          </a:p>
        </p:txBody>
      </p:sp>
      <p:sp>
        <p:nvSpPr>
          <p:cNvPr id="16" name="TextBox 16"/>
          <p:cNvSpPr txBox="1"/>
          <p:nvPr/>
        </p:nvSpPr>
        <p:spPr>
          <a:xfrm>
            <a:off x="303443" y="3194493"/>
            <a:ext cx="6292459" cy="970394"/>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 4 – Automated Design, Drawing &amp; 3D Visualization</a:t>
            </a:r>
          </a:p>
          <a:p>
            <a:pPr algn="l">
              <a:lnSpc>
                <a:spcPts val="1874"/>
              </a:lnSpc>
            </a:pPr>
            <a:r>
              <a:rPr lang="en-US" sz="1562" dirty="0">
                <a:solidFill>
                  <a:srgbClr val="000000"/>
                </a:solidFill>
                <a:latin typeface="Times New Roman MT"/>
                <a:ea typeface="Times New Roman MT"/>
                <a:cs typeface="Times New Roman MT"/>
                <a:sym typeface="Times New Roman MT"/>
              </a:rPr>
              <a:t>The framework generates technical drawings </a:t>
            </a:r>
            <a:r>
              <a:rPr lang="en-US" sz="1562" b="1" dirty="0">
                <a:solidFill>
                  <a:srgbClr val="000000"/>
                </a:solidFill>
                <a:latin typeface="Times New Roman MT Bold"/>
                <a:ea typeface="Times New Roman MT Bold"/>
                <a:cs typeface="Times New Roman MT Bold"/>
                <a:sym typeface="Times New Roman MT Bold"/>
              </a:rPr>
              <a:t>( all types of view) and a 3D bridge model</a:t>
            </a:r>
            <a:r>
              <a:rPr lang="en-US" sz="1562" dirty="0">
                <a:solidFill>
                  <a:srgbClr val="000000"/>
                </a:solidFill>
                <a:latin typeface="Times New Roman MT"/>
                <a:ea typeface="Times New Roman MT"/>
                <a:cs typeface="Times New Roman MT"/>
                <a:sym typeface="Times New Roman MT"/>
              </a:rPr>
              <a:t>, allowing visual understanding of the proposed design with image explanation.</a:t>
            </a:r>
          </a:p>
        </p:txBody>
      </p:sp>
      <p:sp>
        <p:nvSpPr>
          <p:cNvPr id="17" name="TextBox 17"/>
          <p:cNvSpPr txBox="1"/>
          <p:nvPr/>
        </p:nvSpPr>
        <p:spPr>
          <a:xfrm>
            <a:off x="5237770" y="2404817"/>
            <a:ext cx="3542229" cy="142875"/>
          </a:xfrm>
          <a:prstGeom prst="rect">
            <a:avLst/>
          </a:prstGeom>
        </p:spPr>
        <p:txBody>
          <a:bodyPr lIns="0" tIns="0" rIns="0" bIns="0" rtlCol="0" anchor="t">
            <a:spAutoFit/>
          </a:bodyPr>
          <a:lstStyle/>
          <a:p>
            <a:pPr algn="ctr">
              <a:lnSpc>
                <a:spcPts val="1191"/>
              </a:lnSpc>
              <a:spcBef>
                <a:spcPct val="0"/>
              </a:spcBef>
            </a:pPr>
            <a:r>
              <a:rPr lang="en-US" sz="993" spc="-6">
                <a:solidFill>
                  <a:srgbClr val="000000"/>
                </a:solidFill>
                <a:latin typeface="TT Rounds Condensed"/>
                <a:ea typeface="TT Rounds Condensed"/>
                <a:cs typeface="TT Rounds Condensed"/>
                <a:sym typeface="TT Rounds Condensed"/>
              </a:rPr>
              <a:t>fig 2.2: Ai doing the whole complex calculations and design  suggestion </a:t>
            </a:r>
          </a:p>
        </p:txBody>
      </p:sp>
      <p:sp>
        <p:nvSpPr>
          <p:cNvPr id="18" name="TextBox 18"/>
          <p:cNvSpPr txBox="1"/>
          <p:nvPr/>
        </p:nvSpPr>
        <p:spPr>
          <a:xfrm>
            <a:off x="357765" y="4459287"/>
            <a:ext cx="1898625" cy="194959"/>
          </a:xfrm>
          <a:prstGeom prst="rect">
            <a:avLst/>
          </a:prstGeom>
        </p:spPr>
        <p:txBody>
          <a:bodyPr lIns="0" tIns="0" rIns="0" bIns="0" rtlCol="0" anchor="t">
            <a:spAutoFit/>
          </a:bodyPr>
          <a:lstStyle/>
          <a:p>
            <a:pPr algn="ctr">
              <a:lnSpc>
                <a:spcPts val="750"/>
              </a:lnSpc>
              <a:spcBef>
                <a:spcPct val="0"/>
              </a:spcBef>
            </a:pPr>
            <a:r>
              <a:rPr lang="en-US" sz="625" b="1" spc="-3">
                <a:solidFill>
                  <a:srgbClr val="000000"/>
                </a:solidFill>
                <a:latin typeface="TT Rounds Condensed Bold"/>
                <a:ea typeface="TT Rounds Condensed Bold"/>
                <a:cs typeface="TT Rounds Condensed Bold"/>
                <a:sym typeface="TT Rounds Condensed Bold"/>
              </a:rPr>
              <a:t>fig 2.3: Ai generate all type of view i.e- top view, plane view ,</a:t>
            </a:r>
          </a:p>
          <a:p>
            <a:pPr algn="ctr">
              <a:lnSpc>
                <a:spcPts val="750"/>
              </a:lnSpc>
              <a:spcBef>
                <a:spcPct val="0"/>
              </a:spcBef>
            </a:pPr>
            <a:r>
              <a:rPr lang="en-US" sz="625" b="1" spc="-3">
                <a:solidFill>
                  <a:srgbClr val="000000"/>
                </a:solidFill>
                <a:latin typeface="TT Rounds Condensed Bold"/>
                <a:ea typeface="TT Rounds Condensed Bold"/>
                <a:cs typeface="TT Rounds Condensed Bold"/>
                <a:sym typeface="TT Rounds Condensed Bold"/>
              </a:rPr>
              <a:t> isometric view, side view etc. </a:t>
            </a:r>
          </a:p>
        </p:txBody>
      </p:sp>
      <p:sp>
        <p:nvSpPr>
          <p:cNvPr id="19" name="TextBox 19"/>
          <p:cNvSpPr txBox="1"/>
          <p:nvPr/>
        </p:nvSpPr>
        <p:spPr>
          <a:xfrm>
            <a:off x="5786135" y="6038850"/>
            <a:ext cx="1502861" cy="103188"/>
          </a:xfrm>
          <a:prstGeom prst="rect">
            <a:avLst/>
          </a:prstGeom>
        </p:spPr>
        <p:txBody>
          <a:bodyPr lIns="0" tIns="0" rIns="0" bIns="0" rtlCol="0" anchor="t">
            <a:spAutoFit/>
          </a:bodyPr>
          <a:lstStyle/>
          <a:p>
            <a:pPr algn="ctr">
              <a:lnSpc>
                <a:spcPts val="750"/>
              </a:lnSpc>
              <a:spcBef>
                <a:spcPct val="0"/>
              </a:spcBef>
            </a:pPr>
            <a:r>
              <a:rPr lang="en-US" sz="625" spc="-3">
                <a:solidFill>
                  <a:srgbClr val="000000"/>
                </a:solidFill>
                <a:latin typeface="TT Rounds Condensed"/>
                <a:ea typeface="TT Rounds Condensed"/>
                <a:cs typeface="TT Rounds Condensed"/>
                <a:sym typeface="TT Rounds Condensed"/>
              </a:rPr>
              <a:t>fig 2.4: 3D model of the bridge ( very basic level) </a:t>
            </a:r>
          </a:p>
        </p:txBody>
      </p:sp>
      <p:sp>
        <p:nvSpPr>
          <p:cNvPr id="20" name="TextBox 20"/>
          <p:cNvSpPr txBox="1"/>
          <p:nvPr/>
        </p:nvSpPr>
        <p:spPr>
          <a:xfrm>
            <a:off x="7983720" y="3556443"/>
            <a:ext cx="976061" cy="103188"/>
          </a:xfrm>
          <a:prstGeom prst="rect">
            <a:avLst/>
          </a:prstGeom>
        </p:spPr>
        <p:txBody>
          <a:bodyPr lIns="0" tIns="0" rIns="0" bIns="0" rtlCol="0" anchor="t">
            <a:spAutoFit/>
          </a:bodyPr>
          <a:lstStyle/>
          <a:p>
            <a:pPr algn="ctr">
              <a:lnSpc>
                <a:spcPts val="750"/>
              </a:lnSpc>
              <a:spcBef>
                <a:spcPct val="0"/>
              </a:spcBef>
            </a:pPr>
            <a:r>
              <a:rPr lang="en-US" sz="625" spc="-3">
                <a:solidFill>
                  <a:srgbClr val="000000"/>
                </a:solidFill>
                <a:latin typeface="TT Rounds Condensed"/>
                <a:ea typeface="TT Rounds Condensed"/>
                <a:cs typeface="TT Rounds Condensed"/>
                <a:sym typeface="TT Rounds Condensed"/>
              </a:rPr>
              <a:t>fig 2.5: Pillar Design done by AI </a:t>
            </a:r>
          </a:p>
        </p:txBody>
      </p:sp>
      <p:sp>
        <p:nvSpPr>
          <p:cNvPr id="21" name="TextBox 21"/>
          <p:cNvSpPr txBox="1"/>
          <p:nvPr/>
        </p:nvSpPr>
        <p:spPr>
          <a:xfrm>
            <a:off x="8425206" y="6367845"/>
            <a:ext cx="1010759" cy="103188"/>
          </a:xfrm>
          <a:prstGeom prst="rect">
            <a:avLst/>
          </a:prstGeom>
        </p:spPr>
        <p:txBody>
          <a:bodyPr lIns="0" tIns="0" rIns="0" bIns="0" rtlCol="0" anchor="t">
            <a:spAutoFit/>
          </a:bodyPr>
          <a:lstStyle/>
          <a:p>
            <a:pPr algn="ctr">
              <a:lnSpc>
                <a:spcPts val="750"/>
              </a:lnSpc>
              <a:spcBef>
                <a:spcPct val="0"/>
              </a:spcBef>
            </a:pPr>
            <a:r>
              <a:rPr lang="en-US" sz="625" spc="-3">
                <a:solidFill>
                  <a:srgbClr val="000000"/>
                </a:solidFill>
                <a:latin typeface="TT Rounds Condensed"/>
                <a:ea typeface="TT Rounds Condensed"/>
                <a:cs typeface="TT Rounds Condensed"/>
                <a:sym typeface="TT Rounds Condensed"/>
              </a:rPr>
              <a:t>fig 2.6: BEAM Design done by AI </a:t>
            </a:r>
          </a:p>
        </p:txBody>
      </p:sp>
      <p:sp>
        <p:nvSpPr>
          <p:cNvPr id="22" name="AutoShape 22"/>
          <p:cNvSpPr/>
          <p:nvPr/>
        </p:nvSpPr>
        <p:spPr>
          <a:xfrm flipV="1">
            <a:off x="5435045" y="4791583"/>
            <a:ext cx="0" cy="950534"/>
          </a:xfrm>
          <a:prstGeom prst="line">
            <a:avLst/>
          </a:prstGeom>
          <a:ln w="38100" cap="flat">
            <a:solidFill>
              <a:srgbClr val="000000"/>
            </a:solidFill>
            <a:prstDash val="solid"/>
            <a:headEnd type="none" w="sm" len="sm"/>
            <a:tailEnd type="none" w="sm" len="sm"/>
          </a:ln>
        </p:spPr>
      </p:sp>
      <p:sp>
        <p:nvSpPr>
          <p:cNvPr id="23" name="AutoShape 23"/>
          <p:cNvSpPr/>
          <p:nvPr/>
        </p:nvSpPr>
        <p:spPr>
          <a:xfrm flipV="1">
            <a:off x="7637757" y="4791583"/>
            <a:ext cx="0" cy="950534"/>
          </a:xfrm>
          <a:prstGeom prst="line">
            <a:avLst/>
          </a:prstGeom>
          <a:ln w="38100" cap="flat">
            <a:solidFill>
              <a:srgbClr val="000000"/>
            </a:solidFill>
            <a:prstDash val="solid"/>
            <a:headEnd type="none" w="sm" len="sm"/>
            <a:tailEnd type="none" w="sm" len="sm"/>
          </a:ln>
        </p:spPr>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Freeform 9"/>
          <p:cNvSpPr/>
          <p:nvPr/>
        </p:nvSpPr>
        <p:spPr>
          <a:xfrm>
            <a:off x="303443" y="1927013"/>
            <a:ext cx="4377513" cy="1324198"/>
          </a:xfrm>
          <a:custGeom>
            <a:avLst/>
            <a:gdLst/>
            <a:ahLst/>
            <a:cxnLst/>
            <a:rect l="l" t="t" r="r" b="b"/>
            <a:pathLst>
              <a:path w="4377513" h="1324198">
                <a:moveTo>
                  <a:pt x="0" y="0"/>
                </a:moveTo>
                <a:lnTo>
                  <a:pt x="4377513" y="0"/>
                </a:lnTo>
                <a:lnTo>
                  <a:pt x="4377513" y="1324197"/>
                </a:lnTo>
                <a:lnTo>
                  <a:pt x="0" y="1324197"/>
                </a:lnTo>
                <a:lnTo>
                  <a:pt x="0" y="0"/>
                </a:lnTo>
                <a:close/>
              </a:path>
            </a:pathLst>
          </a:custGeom>
          <a:blipFill>
            <a:blip r:embed="rId3"/>
            <a:stretch>
              <a:fillRect/>
            </a:stretch>
          </a:blipFill>
        </p:spPr>
      </p:sp>
      <p:sp>
        <p:nvSpPr>
          <p:cNvPr id="10" name="Freeform 10"/>
          <p:cNvSpPr/>
          <p:nvPr/>
        </p:nvSpPr>
        <p:spPr>
          <a:xfrm>
            <a:off x="303443" y="4659944"/>
            <a:ext cx="3625374" cy="1930512"/>
          </a:xfrm>
          <a:custGeom>
            <a:avLst/>
            <a:gdLst/>
            <a:ahLst/>
            <a:cxnLst/>
            <a:rect l="l" t="t" r="r" b="b"/>
            <a:pathLst>
              <a:path w="3625374" h="1930512">
                <a:moveTo>
                  <a:pt x="0" y="0"/>
                </a:moveTo>
                <a:lnTo>
                  <a:pt x="3625374" y="0"/>
                </a:lnTo>
                <a:lnTo>
                  <a:pt x="3625374" y="1930512"/>
                </a:lnTo>
                <a:lnTo>
                  <a:pt x="0" y="1930512"/>
                </a:lnTo>
                <a:lnTo>
                  <a:pt x="0" y="0"/>
                </a:lnTo>
                <a:close/>
              </a:path>
            </a:pathLst>
          </a:custGeom>
          <a:blipFill>
            <a:blip r:embed="rId4"/>
            <a:stretch>
              <a:fillRect/>
            </a:stretch>
          </a:blipFill>
        </p:spPr>
      </p:sp>
      <p:sp>
        <p:nvSpPr>
          <p:cNvPr id="11" name="Freeform 11"/>
          <p:cNvSpPr/>
          <p:nvPr/>
        </p:nvSpPr>
        <p:spPr>
          <a:xfrm>
            <a:off x="5240762" y="4743495"/>
            <a:ext cx="3205139" cy="1846961"/>
          </a:xfrm>
          <a:custGeom>
            <a:avLst/>
            <a:gdLst/>
            <a:ahLst/>
            <a:cxnLst/>
            <a:rect l="l" t="t" r="r" b="b"/>
            <a:pathLst>
              <a:path w="3205139" h="1846961">
                <a:moveTo>
                  <a:pt x="0" y="0"/>
                </a:moveTo>
                <a:lnTo>
                  <a:pt x="3205138" y="0"/>
                </a:lnTo>
                <a:lnTo>
                  <a:pt x="3205138" y="1846961"/>
                </a:lnTo>
                <a:lnTo>
                  <a:pt x="0" y="1846961"/>
                </a:lnTo>
                <a:lnTo>
                  <a:pt x="0" y="0"/>
                </a:lnTo>
                <a:close/>
              </a:path>
            </a:pathLst>
          </a:custGeom>
          <a:blipFill>
            <a:blip r:embed="rId5"/>
            <a:stretch>
              <a:fillRect/>
            </a:stretch>
          </a:blipFill>
        </p:spPr>
      </p:sp>
      <p:sp>
        <p:nvSpPr>
          <p:cNvPr id="12" name="TextBox 12"/>
          <p:cNvSpPr txBox="1"/>
          <p:nvPr/>
        </p:nvSpPr>
        <p:spPr>
          <a:xfrm>
            <a:off x="916943" y="302285"/>
            <a:ext cx="3083957"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6. Results/analysis [C] </a:t>
            </a:r>
          </a:p>
        </p:txBody>
      </p:sp>
      <p:sp>
        <p:nvSpPr>
          <p:cNvPr id="13" name="TextBox 13"/>
          <p:cNvSpPr txBox="1"/>
          <p:nvPr/>
        </p:nvSpPr>
        <p:spPr>
          <a:xfrm>
            <a:off x="303443" y="1108252"/>
            <a:ext cx="6292459" cy="726737"/>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6 – Cost &amp; Material Estimation</a:t>
            </a:r>
          </a:p>
          <a:p>
            <a:pPr algn="l">
              <a:lnSpc>
                <a:spcPts val="1874"/>
              </a:lnSpc>
            </a:pPr>
            <a:r>
              <a:rPr lang="en-US" sz="1562" dirty="0">
                <a:solidFill>
                  <a:srgbClr val="000000"/>
                </a:solidFill>
                <a:latin typeface="Times New Roman MT"/>
                <a:ea typeface="Times New Roman MT"/>
                <a:cs typeface="Times New Roman MT"/>
                <a:sym typeface="Times New Roman MT"/>
              </a:rPr>
              <a:t>The system produces cost estimates and material quantity calculations, supporting early-stage construction planning.</a:t>
            </a:r>
          </a:p>
        </p:txBody>
      </p:sp>
      <p:sp>
        <p:nvSpPr>
          <p:cNvPr id="14" name="TextBox 14"/>
          <p:cNvSpPr txBox="1"/>
          <p:nvPr/>
        </p:nvSpPr>
        <p:spPr>
          <a:xfrm>
            <a:off x="303443" y="3693033"/>
            <a:ext cx="6292459" cy="970394"/>
          </a:xfrm>
          <a:prstGeom prst="rect">
            <a:avLst/>
          </a:prstGeom>
        </p:spPr>
        <p:txBody>
          <a:bodyPr lIns="0" tIns="0" rIns="0" bIns="0" rtlCol="0" anchor="t">
            <a:spAutoFit/>
          </a:bodyPr>
          <a:lstStyle/>
          <a:p>
            <a:pPr algn="l">
              <a:lnSpc>
                <a:spcPts val="1874"/>
              </a:lnSpc>
            </a:pPr>
            <a:r>
              <a:rPr lang="en-US" sz="1562" b="1" dirty="0">
                <a:solidFill>
                  <a:srgbClr val="000000"/>
                </a:solidFill>
                <a:latin typeface="Times New Roman MT Bold"/>
                <a:ea typeface="Times New Roman MT Bold"/>
                <a:cs typeface="Times New Roman MT Bold"/>
                <a:sym typeface="Times New Roman MT Bold"/>
              </a:rPr>
              <a:t>7 – Automated Report &amp; Explanation Generation</a:t>
            </a:r>
          </a:p>
          <a:p>
            <a:pPr algn="l">
              <a:lnSpc>
                <a:spcPts val="1874"/>
              </a:lnSpc>
            </a:pPr>
            <a:r>
              <a:rPr lang="en-US" sz="1562" dirty="0">
                <a:solidFill>
                  <a:srgbClr val="000000"/>
                </a:solidFill>
                <a:latin typeface="Times New Roman MT"/>
                <a:ea typeface="Times New Roman MT"/>
                <a:cs typeface="Times New Roman MT"/>
                <a:sym typeface="Times New Roman MT"/>
              </a:rPr>
              <a:t>A complete bridge design report with explanations and traceability logs is generated for documentation and engineering review in </a:t>
            </a:r>
            <a:r>
              <a:rPr lang="en-US" sz="1562" b="1" dirty="0">
                <a:solidFill>
                  <a:srgbClr val="000000"/>
                </a:solidFill>
                <a:latin typeface="Times New Roman MT Bold"/>
                <a:ea typeface="Times New Roman MT Bold"/>
                <a:cs typeface="Times New Roman MT Bold"/>
                <a:sym typeface="Times New Roman MT Bold"/>
              </a:rPr>
              <a:t>pdf</a:t>
            </a:r>
            <a:r>
              <a:rPr lang="en-US" sz="1562" dirty="0">
                <a:solidFill>
                  <a:srgbClr val="000000"/>
                </a:solidFill>
                <a:latin typeface="Times New Roman MT"/>
                <a:ea typeface="Times New Roman MT"/>
                <a:cs typeface="Times New Roman MT"/>
                <a:sym typeface="Times New Roman MT"/>
              </a:rPr>
              <a:t> </a:t>
            </a:r>
            <a:r>
              <a:rPr lang="en-US" sz="1562" dirty="0" err="1">
                <a:solidFill>
                  <a:srgbClr val="000000"/>
                </a:solidFill>
                <a:latin typeface="Times New Roman MT"/>
                <a:ea typeface="Times New Roman MT"/>
                <a:cs typeface="Times New Roman MT"/>
                <a:sym typeface="Times New Roman MT"/>
              </a:rPr>
              <a:t>formate</a:t>
            </a:r>
            <a:r>
              <a:rPr lang="en-US" sz="1562" dirty="0">
                <a:solidFill>
                  <a:srgbClr val="000000"/>
                </a:solidFill>
                <a:latin typeface="Times New Roman MT"/>
                <a:ea typeface="Times New Roman MT"/>
                <a:cs typeface="Times New Roman MT"/>
                <a:sym typeface="Times New Roman MT"/>
              </a:rPr>
              <a:t>.</a:t>
            </a:r>
          </a:p>
          <a:p>
            <a:pPr algn="l">
              <a:lnSpc>
                <a:spcPts val="1874"/>
              </a:lnSpc>
            </a:pPr>
            <a:endParaRPr lang="en-US" sz="1562" dirty="0">
              <a:solidFill>
                <a:srgbClr val="000000"/>
              </a:solidFill>
              <a:latin typeface="Times New Roman MT"/>
              <a:ea typeface="Times New Roman MT"/>
              <a:cs typeface="Times New Roman MT"/>
              <a:sym typeface="Times New Roman MT"/>
            </a:endParaRPr>
          </a:p>
        </p:txBody>
      </p:sp>
      <p:sp>
        <p:nvSpPr>
          <p:cNvPr id="15" name="TextBox 15"/>
          <p:cNvSpPr txBox="1"/>
          <p:nvPr/>
        </p:nvSpPr>
        <p:spPr>
          <a:xfrm>
            <a:off x="2841692" y="3327770"/>
            <a:ext cx="2084427" cy="142875"/>
          </a:xfrm>
          <a:prstGeom prst="rect">
            <a:avLst/>
          </a:prstGeom>
        </p:spPr>
        <p:txBody>
          <a:bodyPr lIns="0" tIns="0" rIns="0" bIns="0" rtlCol="0" anchor="t">
            <a:spAutoFit/>
          </a:bodyPr>
          <a:lstStyle/>
          <a:p>
            <a:pPr algn="ctr">
              <a:lnSpc>
                <a:spcPts val="1171"/>
              </a:lnSpc>
              <a:spcBef>
                <a:spcPct val="0"/>
              </a:spcBef>
            </a:pPr>
            <a:r>
              <a:rPr lang="en-US" sz="976" spc="-5">
                <a:solidFill>
                  <a:srgbClr val="000000"/>
                </a:solidFill>
                <a:latin typeface="TT Rounds Condensed"/>
                <a:ea typeface="TT Rounds Condensed"/>
                <a:cs typeface="TT Rounds Condensed"/>
                <a:sym typeface="TT Rounds Condensed"/>
              </a:rPr>
              <a:t>fig 2.7: Cost estimation output by Ai model </a:t>
            </a:r>
          </a:p>
        </p:txBody>
      </p:sp>
      <p:sp>
        <p:nvSpPr>
          <p:cNvPr id="16" name="TextBox 16"/>
          <p:cNvSpPr txBox="1"/>
          <p:nvPr/>
        </p:nvSpPr>
        <p:spPr>
          <a:xfrm>
            <a:off x="5587241" y="4493133"/>
            <a:ext cx="2672715" cy="142875"/>
          </a:xfrm>
          <a:prstGeom prst="rect">
            <a:avLst/>
          </a:prstGeom>
        </p:spPr>
        <p:txBody>
          <a:bodyPr lIns="0" tIns="0" rIns="0" bIns="0" rtlCol="0" anchor="t">
            <a:spAutoFit/>
          </a:bodyPr>
          <a:lstStyle/>
          <a:p>
            <a:pPr algn="ctr">
              <a:lnSpc>
                <a:spcPts val="1171"/>
              </a:lnSpc>
              <a:spcBef>
                <a:spcPct val="0"/>
              </a:spcBef>
            </a:pPr>
            <a:r>
              <a:rPr lang="en-US" sz="976" spc="-5">
                <a:solidFill>
                  <a:srgbClr val="2C2D2E"/>
                </a:solidFill>
                <a:latin typeface="TT Rounds Condensed"/>
                <a:ea typeface="TT Rounds Condensed"/>
                <a:cs typeface="TT Rounds Condensed"/>
                <a:sym typeface="TT Rounds Condensed"/>
              </a:rPr>
              <a:t>fig 2.9: Bridge Technical Recommendation by Ai model </a:t>
            </a:r>
          </a:p>
        </p:txBody>
      </p:sp>
      <p:sp>
        <p:nvSpPr>
          <p:cNvPr id="17" name="TextBox 17"/>
          <p:cNvSpPr txBox="1"/>
          <p:nvPr/>
        </p:nvSpPr>
        <p:spPr>
          <a:xfrm>
            <a:off x="1118905" y="4493133"/>
            <a:ext cx="2330767" cy="142875"/>
          </a:xfrm>
          <a:prstGeom prst="rect">
            <a:avLst/>
          </a:prstGeom>
        </p:spPr>
        <p:txBody>
          <a:bodyPr lIns="0" tIns="0" rIns="0" bIns="0" rtlCol="0" anchor="t">
            <a:spAutoFit/>
          </a:bodyPr>
          <a:lstStyle/>
          <a:p>
            <a:pPr algn="ctr">
              <a:lnSpc>
                <a:spcPts val="1171"/>
              </a:lnSpc>
              <a:spcBef>
                <a:spcPct val="0"/>
              </a:spcBef>
            </a:pPr>
            <a:r>
              <a:rPr lang="en-US" sz="976" spc="-5">
                <a:solidFill>
                  <a:srgbClr val="2C2D2E"/>
                </a:solidFill>
                <a:latin typeface="TT Rounds Condensed"/>
                <a:ea typeface="TT Rounds Condensed"/>
                <a:cs typeface="TT Rounds Condensed"/>
                <a:sym typeface="TT Rounds Condensed"/>
              </a:rPr>
              <a:t>fig 2.8: Whole Concept explanation  by Ai model </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266671"/>
            <a:ext cx="1972151"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7. Conclusion</a:t>
            </a:r>
            <a:r>
              <a:rPr lang="en-US" sz="2600" b="1" dirty="0">
                <a:solidFill>
                  <a:srgbClr val="608BA3"/>
                </a:solidFill>
                <a:latin typeface="Calibri (MS) Bold"/>
                <a:ea typeface="Calibri (MS) Bold"/>
                <a:cs typeface="Calibri (MS) Bold"/>
                <a:sym typeface="Calibri (MS) Bold"/>
              </a:rPr>
              <a:t> </a:t>
            </a:r>
          </a:p>
        </p:txBody>
      </p:sp>
      <p:sp>
        <p:nvSpPr>
          <p:cNvPr id="10" name="TextBox 10"/>
          <p:cNvSpPr txBox="1"/>
          <p:nvPr/>
        </p:nvSpPr>
        <p:spPr>
          <a:xfrm>
            <a:off x="-1684258" y="1014785"/>
            <a:ext cx="11240054" cy="962025"/>
          </a:xfrm>
          <a:prstGeom prst="rect">
            <a:avLst/>
          </a:prstGeom>
        </p:spPr>
        <p:txBody>
          <a:bodyPr lIns="0" tIns="0" rIns="0" bIns="0" rtlCol="0" anchor="t">
            <a:spAutoFit/>
          </a:bodyPr>
          <a:lstStyle/>
          <a:p>
            <a:pPr marL="2221846" lvl="5" indent="-370308" algn="l">
              <a:lnSpc>
                <a:spcPts val="2469"/>
              </a:lnSpc>
              <a:buFont typeface="Arial"/>
              <a:buChar char="⚬"/>
            </a:pPr>
            <a:r>
              <a:rPr lang="en-US" sz="2058">
                <a:solidFill>
                  <a:srgbClr val="2C2D2E"/>
                </a:solidFill>
                <a:latin typeface="Times New Roman MT"/>
                <a:ea typeface="Times New Roman MT"/>
                <a:cs typeface="Times New Roman MT"/>
                <a:sym typeface="Times New Roman MT"/>
              </a:rPr>
              <a:t>This study aimed to develop an AI-based intelligent bridge design framework integrated with BIM concepts to improve efficiency during the preliminary engineering and pre-construction planning phases.</a:t>
            </a:r>
          </a:p>
        </p:txBody>
      </p:sp>
      <p:sp>
        <p:nvSpPr>
          <p:cNvPr id="11" name="TextBox 11"/>
          <p:cNvSpPr txBox="1"/>
          <p:nvPr/>
        </p:nvSpPr>
        <p:spPr>
          <a:xfrm>
            <a:off x="-1762819" y="2110160"/>
            <a:ext cx="11397175" cy="962025"/>
          </a:xfrm>
          <a:prstGeom prst="rect">
            <a:avLst/>
          </a:prstGeom>
        </p:spPr>
        <p:txBody>
          <a:bodyPr lIns="0" tIns="0" rIns="0" bIns="0" rtlCol="0" anchor="t">
            <a:spAutoFit/>
          </a:bodyPr>
          <a:lstStyle/>
          <a:p>
            <a:pPr marL="2221846" lvl="5" indent="-370308" algn="l">
              <a:lnSpc>
                <a:spcPts val="2469"/>
              </a:lnSpc>
              <a:buFont typeface="Arial"/>
              <a:buChar char="⚬"/>
            </a:pPr>
            <a:r>
              <a:rPr lang="en-US" sz="2058">
                <a:solidFill>
                  <a:srgbClr val="2C2D2E"/>
                </a:solidFill>
                <a:latin typeface="Times New Roman MT"/>
                <a:ea typeface="Times New Roman MT"/>
                <a:cs typeface="Times New Roman MT"/>
                <a:sym typeface="Times New Roman MT"/>
              </a:rPr>
              <a:t>Results show that the proposed system can automatically process bridge design inputs, perform engineering calculations, recommend suitable bridge structures, and generate visual and analytical outputs.</a:t>
            </a:r>
          </a:p>
        </p:txBody>
      </p:sp>
      <p:sp>
        <p:nvSpPr>
          <p:cNvPr id="12" name="TextBox 12"/>
          <p:cNvSpPr txBox="1"/>
          <p:nvPr/>
        </p:nvSpPr>
        <p:spPr>
          <a:xfrm>
            <a:off x="-1684258" y="3204348"/>
            <a:ext cx="11397175" cy="962025"/>
          </a:xfrm>
          <a:prstGeom prst="rect">
            <a:avLst/>
          </a:prstGeom>
        </p:spPr>
        <p:txBody>
          <a:bodyPr lIns="0" tIns="0" rIns="0" bIns="0" rtlCol="0" anchor="t">
            <a:spAutoFit/>
          </a:bodyPr>
          <a:lstStyle/>
          <a:p>
            <a:pPr marL="2221846" lvl="5" indent="-370308" algn="l">
              <a:lnSpc>
                <a:spcPts val="2469"/>
              </a:lnSpc>
              <a:buFont typeface="Arial"/>
              <a:buChar char="⚬"/>
            </a:pPr>
            <a:r>
              <a:rPr lang="en-US" sz="2058">
                <a:solidFill>
                  <a:srgbClr val="2C2D2E"/>
                </a:solidFill>
                <a:latin typeface="Times New Roman MT"/>
                <a:ea typeface="Times New Roman MT"/>
                <a:cs typeface="Times New Roman MT"/>
                <a:sym typeface="Times New Roman MT"/>
              </a:rPr>
              <a:t>Based on local AI models, civil engineering datasets, and automated calculation algorithms, we were able to create an end-to-end workflow that generates drawings, 3D bridge visualization, cost estimation, and technical reports.</a:t>
            </a:r>
          </a:p>
        </p:txBody>
      </p:sp>
      <p:sp>
        <p:nvSpPr>
          <p:cNvPr id="13" name="TextBox 13"/>
          <p:cNvSpPr txBox="1"/>
          <p:nvPr/>
        </p:nvSpPr>
        <p:spPr>
          <a:xfrm>
            <a:off x="685800" y="4261623"/>
            <a:ext cx="7188469" cy="447675"/>
          </a:xfrm>
          <a:prstGeom prst="rect">
            <a:avLst/>
          </a:prstGeom>
        </p:spPr>
        <p:txBody>
          <a:bodyPr lIns="0" tIns="0" rIns="0" bIns="0" rtlCol="0" anchor="t">
            <a:spAutoFit/>
          </a:bodyPr>
          <a:lstStyle/>
          <a:p>
            <a:pPr marL="302261" lvl="1" indent="-151130" algn="l">
              <a:lnSpc>
                <a:spcPts val="1680"/>
              </a:lnSpc>
              <a:buFont typeface="Arial"/>
              <a:buChar char="•"/>
            </a:pPr>
            <a:r>
              <a:rPr lang="en-US" sz="1400" spc="-8">
                <a:solidFill>
                  <a:srgbClr val="000000"/>
                </a:solidFill>
                <a:latin typeface="Times New Roman MT"/>
                <a:ea typeface="Times New Roman MT"/>
                <a:cs typeface="Times New Roman MT"/>
                <a:sym typeface="Times New Roman MT"/>
              </a:rPr>
              <a:t>The system successfully demonstrates AI-assisted structural decision support</a:t>
            </a:r>
          </a:p>
          <a:p>
            <a:pPr marL="302261" lvl="1" indent="-151130" algn="l">
              <a:lnSpc>
                <a:spcPts val="1680"/>
              </a:lnSpc>
              <a:buFont typeface="Arial"/>
              <a:buChar char="•"/>
            </a:pPr>
            <a:r>
              <a:rPr lang="en-US" sz="1400" spc="-8">
                <a:solidFill>
                  <a:srgbClr val="000000"/>
                </a:solidFill>
                <a:latin typeface="TT Rounds Condensed"/>
                <a:ea typeface="TT Rounds Condensed"/>
                <a:cs typeface="TT Rounds Condensed"/>
                <a:sym typeface="TT Rounds Condensed"/>
              </a:rPr>
              <a:t>Automated outputs include design recommendations, cost estimates, and engineering reports</a:t>
            </a:r>
          </a:p>
        </p:txBody>
      </p:sp>
      <p:sp>
        <p:nvSpPr>
          <p:cNvPr id="14" name="TextBox 14"/>
          <p:cNvSpPr txBox="1"/>
          <p:nvPr/>
        </p:nvSpPr>
        <p:spPr>
          <a:xfrm>
            <a:off x="-1684258" y="5014098"/>
            <a:ext cx="11397175" cy="1266825"/>
          </a:xfrm>
          <a:prstGeom prst="rect">
            <a:avLst/>
          </a:prstGeom>
        </p:spPr>
        <p:txBody>
          <a:bodyPr lIns="0" tIns="0" rIns="0" bIns="0" rtlCol="0" anchor="t">
            <a:spAutoFit/>
          </a:bodyPr>
          <a:lstStyle/>
          <a:p>
            <a:pPr marL="2221846" lvl="5" indent="-370308" algn="l">
              <a:lnSpc>
                <a:spcPts val="2469"/>
              </a:lnSpc>
              <a:buFont typeface="Arial"/>
              <a:buChar char="⚬"/>
            </a:pPr>
            <a:r>
              <a:rPr lang="en-US" sz="2058">
                <a:solidFill>
                  <a:srgbClr val="2C2D2E"/>
                </a:solidFill>
                <a:latin typeface="Times New Roman MT"/>
                <a:ea typeface="Times New Roman MT"/>
                <a:cs typeface="Times New Roman MT"/>
                <a:sym typeface="Times New Roman MT"/>
              </a:rPr>
              <a:t>Our study helps to improve early-stage bridge planning by reducing manual calculations, increasing efficiency, and enabling data-driven infrastructure design, contributing to the development of intelligent and sustainable civil engineering systems.</a:t>
            </a: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6694" y="340919"/>
            <a:ext cx="347662" cy="482041"/>
            <a:chOff x="0" y="0"/>
            <a:chExt cx="463550" cy="642722"/>
          </a:xfrm>
        </p:grpSpPr>
        <p:sp>
          <p:nvSpPr>
            <p:cNvPr id="3" name="Freeform 3"/>
            <p:cNvSpPr/>
            <p:nvPr/>
          </p:nvSpPr>
          <p:spPr>
            <a:xfrm>
              <a:off x="0" y="0"/>
              <a:ext cx="463550" cy="642747"/>
            </a:xfrm>
            <a:custGeom>
              <a:avLst/>
              <a:gdLst/>
              <a:ahLst/>
              <a:cxnLst/>
              <a:rect l="l" t="t" r="r" b="b"/>
              <a:pathLst>
                <a:path w="463550" h="642747">
                  <a:moveTo>
                    <a:pt x="0" y="0"/>
                  </a:moveTo>
                  <a:cubicBezTo>
                    <a:pt x="463550" y="0"/>
                    <a:pt x="463550" y="0"/>
                    <a:pt x="463550" y="0"/>
                  </a:cubicBezTo>
                  <a:cubicBezTo>
                    <a:pt x="463550" y="540766"/>
                    <a:pt x="463550" y="540766"/>
                    <a:pt x="463550" y="540766"/>
                  </a:cubicBezTo>
                  <a:cubicBezTo>
                    <a:pt x="50165" y="642747"/>
                    <a:pt x="50165" y="642747"/>
                    <a:pt x="50165" y="642747"/>
                  </a:cubicBezTo>
                  <a:cubicBezTo>
                    <a:pt x="46355" y="642747"/>
                    <a:pt x="42418" y="642747"/>
                    <a:pt x="38608" y="642747"/>
                  </a:cubicBezTo>
                  <a:cubicBezTo>
                    <a:pt x="15494" y="642747"/>
                    <a:pt x="0" y="626999"/>
                    <a:pt x="0" y="611378"/>
                  </a:cubicBezTo>
                  <a:lnTo>
                    <a:pt x="0" y="0"/>
                  </a:lnTo>
                  <a:close/>
                </a:path>
              </a:pathLst>
            </a:custGeom>
            <a:solidFill>
              <a:srgbClr val="FFFFFF"/>
            </a:solidFill>
          </p:spPr>
        </p:sp>
        <p:sp>
          <p:nvSpPr>
            <p:cNvPr id="4" name="TextBox 4"/>
            <p:cNvSpPr txBox="1"/>
            <p:nvPr/>
          </p:nvSpPr>
          <p:spPr>
            <a:xfrm>
              <a:off x="0" y="0"/>
              <a:ext cx="463550" cy="642722"/>
            </a:xfrm>
            <a:prstGeom prst="rect">
              <a:avLst/>
            </a:prstGeom>
          </p:spPr>
          <p:txBody>
            <a:bodyPr lIns="50800" tIns="50800" rIns="50800" bIns="50800" rtlCol="0" anchor="ctr"/>
            <a:lstStyle/>
            <a:p>
              <a:pPr algn="ctr">
                <a:lnSpc>
                  <a:spcPts val="1679"/>
                </a:lnSpc>
              </a:pPr>
              <a:r>
                <a:rPr lang="en-US" sz="1399" spc="-8">
                  <a:solidFill>
                    <a:srgbClr val="608BA3"/>
                  </a:solidFill>
                  <a:latin typeface="TT Rounds Condensed"/>
                  <a:ea typeface="TT Rounds Condensed"/>
                  <a:cs typeface="TT Rounds Condensed"/>
                  <a:sym typeface="TT Rounds Condensed"/>
                </a:rPr>
                <a:t>‹#›</a:t>
              </a:r>
            </a:p>
          </p:txBody>
        </p:sp>
      </p:grpSp>
      <p:grpSp>
        <p:nvGrpSpPr>
          <p:cNvPr id="5" name="Group 5"/>
          <p:cNvGrpSpPr/>
          <p:nvPr/>
        </p:nvGrpSpPr>
        <p:grpSpPr>
          <a:xfrm>
            <a:off x="0" y="0"/>
            <a:ext cx="9918506" cy="822960"/>
            <a:chOff x="0" y="0"/>
            <a:chExt cx="13224675" cy="1097280"/>
          </a:xfrm>
        </p:grpSpPr>
        <p:sp>
          <p:nvSpPr>
            <p:cNvPr id="6" name="Freeform 6"/>
            <p:cNvSpPr/>
            <p:nvPr/>
          </p:nvSpPr>
          <p:spPr>
            <a:xfrm>
              <a:off x="0" y="0"/>
              <a:ext cx="13224638" cy="1097280"/>
            </a:xfrm>
            <a:custGeom>
              <a:avLst/>
              <a:gdLst/>
              <a:ahLst/>
              <a:cxnLst/>
              <a:rect l="l" t="t" r="r" b="b"/>
              <a:pathLst>
                <a:path w="13224638" h="1097280">
                  <a:moveTo>
                    <a:pt x="0" y="0"/>
                  </a:moveTo>
                  <a:lnTo>
                    <a:pt x="13224638" y="0"/>
                  </a:lnTo>
                  <a:lnTo>
                    <a:pt x="13224638" y="1097280"/>
                  </a:lnTo>
                  <a:lnTo>
                    <a:pt x="0" y="1097280"/>
                  </a:lnTo>
                  <a:close/>
                </a:path>
              </a:pathLst>
            </a:custGeom>
            <a:solidFill>
              <a:srgbClr val="8AC4E7"/>
            </a:solidFill>
          </p:spPr>
        </p:sp>
      </p:grpSp>
      <p:grpSp>
        <p:nvGrpSpPr>
          <p:cNvPr id="7" name="Group 7"/>
          <p:cNvGrpSpPr/>
          <p:nvPr/>
        </p:nvGrpSpPr>
        <p:grpSpPr>
          <a:xfrm>
            <a:off x="-12506" y="6714306"/>
            <a:ext cx="9918506" cy="143694"/>
            <a:chOff x="0" y="0"/>
            <a:chExt cx="13224675" cy="191592"/>
          </a:xfrm>
        </p:grpSpPr>
        <p:sp>
          <p:nvSpPr>
            <p:cNvPr id="8" name="Freeform 8"/>
            <p:cNvSpPr/>
            <p:nvPr/>
          </p:nvSpPr>
          <p:spPr>
            <a:xfrm>
              <a:off x="0" y="0"/>
              <a:ext cx="13224638" cy="191643"/>
            </a:xfrm>
            <a:custGeom>
              <a:avLst/>
              <a:gdLst/>
              <a:ahLst/>
              <a:cxnLst/>
              <a:rect l="l" t="t" r="r" b="b"/>
              <a:pathLst>
                <a:path w="13224638" h="191643">
                  <a:moveTo>
                    <a:pt x="0" y="0"/>
                  </a:moveTo>
                  <a:lnTo>
                    <a:pt x="13224638" y="0"/>
                  </a:lnTo>
                  <a:lnTo>
                    <a:pt x="13224638" y="191643"/>
                  </a:lnTo>
                  <a:lnTo>
                    <a:pt x="0" y="191643"/>
                  </a:lnTo>
                  <a:close/>
                </a:path>
              </a:pathLst>
            </a:custGeom>
            <a:solidFill>
              <a:srgbClr val="92D050"/>
            </a:solidFill>
          </p:spPr>
        </p:sp>
      </p:grpSp>
      <p:sp>
        <p:nvSpPr>
          <p:cNvPr id="9" name="TextBox 9"/>
          <p:cNvSpPr txBox="1"/>
          <p:nvPr/>
        </p:nvSpPr>
        <p:spPr>
          <a:xfrm>
            <a:off x="916943" y="266671"/>
            <a:ext cx="4280654" cy="397545"/>
          </a:xfrm>
          <a:prstGeom prst="rect">
            <a:avLst/>
          </a:prstGeom>
        </p:spPr>
        <p:txBody>
          <a:bodyPr lIns="0" tIns="0" rIns="0" bIns="0" rtlCol="0" anchor="t">
            <a:spAutoFit/>
          </a:bodyPr>
          <a:lstStyle/>
          <a:p>
            <a:pPr algn="l">
              <a:lnSpc>
                <a:spcPts val="3120"/>
              </a:lnSpc>
            </a:pPr>
            <a:r>
              <a:rPr lang="en-US" sz="2600" b="1" dirty="0">
                <a:solidFill>
                  <a:srgbClr val="002060"/>
                </a:solidFill>
                <a:latin typeface="Calibri (MS) Bold"/>
                <a:ea typeface="Calibri (MS) Bold"/>
                <a:cs typeface="Calibri (MS) Bold"/>
                <a:sym typeface="Calibri (MS) Bold"/>
              </a:rPr>
              <a:t>8. Future research</a:t>
            </a:r>
            <a:r>
              <a:rPr lang="en-US" sz="2600" b="1" dirty="0">
                <a:solidFill>
                  <a:srgbClr val="608BA3"/>
                </a:solidFill>
                <a:latin typeface="Calibri (MS) Bold"/>
                <a:ea typeface="Calibri (MS) Bold"/>
                <a:cs typeface="Calibri (MS) Bold"/>
                <a:sym typeface="Calibri (MS) Bold"/>
              </a:rPr>
              <a:t> </a:t>
            </a:r>
          </a:p>
        </p:txBody>
      </p:sp>
      <p:sp>
        <p:nvSpPr>
          <p:cNvPr id="11" name="TextBox 11"/>
          <p:cNvSpPr txBox="1"/>
          <p:nvPr/>
        </p:nvSpPr>
        <p:spPr>
          <a:xfrm>
            <a:off x="223758" y="1163879"/>
            <a:ext cx="9470962" cy="3383584"/>
          </a:xfrm>
          <a:prstGeom prst="rect">
            <a:avLst/>
          </a:prstGeom>
        </p:spPr>
        <p:txBody>
          <a:bodyPr lIns="0" tIns="0" rIns="0" bIns="0" rtlCol="0" anchor="t">
            <a:spAutoFit/>
          </a:bodyPr>
          <a:lstStyle/>
          <a:p>
            <a:pPr algn="l">
              <a:lnSpc>
                <a:spcPts val="2081"/>
              </a:lnSpc>
            </a:pPr>
            <a:r>
              <a:rPr lang="en-US" sz="1734" b="1" dirty="0">
                <a:solidFill>
                  <a:srgbClr val="2C2D2E"/>
                </a:solidFill>
                <a:latin typeface="Times New Roman MT Bold"/>
                <a:ea typeface="Times New Roman MT Bold"/>
                <a:cs typeface="Times New Roman MT Bold"/>
                <a:sym typeface="Times New Roman MT Bold"/>
              </a:rPr>
              <a:t>Future Research</a:t>
            </a:r>
          </a:p>
          <a:p>
            <a:pPr algn="l">
              <a:lnSpc>
                <a:spcPts val="2081"/>
              </a:lnSpc>
            </a:pPr>
            <a:r>
              <a:rPr lang="en-US" sz="1734" dirty="0">
                <a:solidFill>
                  <a:srgbClr val="2C2D2E"/>
                </a:solidFill>
                <a:latin typeface="Times New Roman MT"/>
                <a:ea typeface="Times New Roman MT"/>
                <a:cs typeface="Times New Roman MT"/>
                <a:sym typeface="Times New Roman MT"/>
              </a:rPr>
              <a:t>Future work will focus on integrating real-world engineering datasets, comprehensive civil engineering algorithms, design formulas, and standard codes such as IS codes to achieve more accurate and realistic design outputs.</a:t>
            </a:r>
          </a:p>
          <a:p>
            <a:pPr algn="l">
              <a:lnSpc>
                <a:spcPts val="2081"/>
              </a:lnSpc>
            </a:pPr>
            <a:r>
              <a:rPr lang="en-US" sz="1734" dirty="0">
                <a:solidFill>
                  <a:srgbClr val="2C2D2E"/>
                </a:solidFill>
                <a:latin typeface="Times New Roman MT"/>
                <a:ea typeface="Times New Roman MT"/>
                <a:cs typeface="Times New Roman MT"/>
                <a:sym typeface="Times New Roman MT"/>
              </a:rPr>
              <a:t>Additionally, the proposed framework can be extended to support other infrastructure systems such as intelligent buildings, road networks, and urban infrastructure planning.</a:t>
            </a:r>
          </a:p>
          <a:p>
            <a:pPr algn="l">
              <a:lnSpc>
                <a:spcPts val="2081"/>
              </a:lnSpc>
            </a:pPr>
            <a:r>
              <a:rPr lang="en-US" sz="1734" dirty="0">
                <a:solidFill>
                  <a:srgbClr val="2C2D2E"/>
                </a:solidFill>
                <a:latin typeface="Times New Roman MT"/>
                <a:ea typeface="Times New Roman MT"/>
                <a:cs typeface="Times New Roman MT"/>
                <a:sym typeface="Times New Roman MT"/>
              </a:rPr>
              <a:t>With more realistic datasets and engineering standards, this approach has the potential to make pre-construction planning faster, more reliable, and more intelligent for modern infrastructure development</a:t>
            </a:r>
            <a:r>
              <a:rPr lang="en-US" sz="1734" b="1" dirty="0">
                <a:solidFill>
                  <a:srgbClr val="2C2D2E"/>
                </a:solidFill>
                <a:latin typeface="Times New Roman MT Bold"/>
                <a:ea typeface="Times New Roman MT Bold"/>
                <a:cs typeface="Times New Roman MT Bold"/>
                <a:sym typeface="Times New Roman MT Bold"/>
              </a:rPr>
              <a:t>.</a:t>
            </a:r>
          </a:p>
          <a:p>
            <a:pPr algn="l">
              <a:lnSpc>
                <a:spcPts val="2081"/>
              </a:lnSpc>
            </a:pPr>
            <a:endParaRPr lang="en-US" sz="1734" b="1" dirty="0">
              <a:solidFill>
                <a:srgbClr val="2C2D2E"/>
              </a:solidFill>
              <a:latin typeface="Times New Roman MT Bold"/>
              <a:ea typeface="Times New Roman MT Bold"/>
              <a:cs typeface="Times New Roman MT Bold"/>
              <a:sym typeface="Times New Roman MT Bold"/>
            </a:endParaRPr>
          </a:p>
          <a:p>
            <a:pPr algn="l">
              <a:lnSpc>
                <a:spcPts val="2081"/>
              </a:lnSpc>
            </a:pPr>
            <a:endParaRPr lang="en-US" sz="1734" b="1" dirty="0">
              <a:solidFill>
                <a:srgbClr val="2C2D2E"/>
              </a:solidFill>
              <a:latin typeface="Times New Roman MT Bold"/>
              <a:ea typeface="Times New Roman MT Bold"/>
              <a:cs typeface="Times New Roman MT Bold"/>
              <a:sym typeface="Times New Roman MT Bold"/>
            </a:endParaRPr>
          </a:p>
          <a:p>
            <a:pPr algn="l">
              <a:lnSpc>
                <a:spcPts val="2081"/>
              </a:lnSpc>
            </a:pPr>
            <a:endParaRPr lang="en-US" sz="1734" b="1" dirty="0">
              <a:solidFill>
                <a:srgbClr val="2C2D2E"/>
              </a:solidFill>
              <a:latin typeface="Times New Roman MT Bold"/>
              <a:ea typeface="Times New Roman MT Bold"/>
              <a:cs typeface="Times New Roman MT Bold"/>
              <a:sym typeface="Times New Roman MT Bold"/>
            </a:endParaRPr>
          </a:p>
          <a:p>
            <a:pPr algn="l">
              <a:lnSpc>
                <a:spcPts val="2081"/>
              </a:lnSpc>
            </a:pPr>
            <a:endParaRPr lang="en-US" sz="1734" b="1" dirty="0">
              <a:solidFill>
                <a:srgbClr val="2C2D2E"/>
              </a:solidFill>
              <a:latin typeface="Times New Roman MT Bold"/>
              <a:ea typeface="Times New Roman MT Bold"/>
              <a:cs typeface="Times New Roman MT Bold"/>
              <a:sym typeface="Times New Roman MT Bold"/>
            </a:endParaRPr>
          </a:p>
        </p:txBody>
      </p:sp>
    </p:spTree>
  </p:cSld>
  <p:clrMapOvr>
    <a:masterClrMapping/>
  </p:clrMapOvr>
  <mc:AlternateContent xmlns:mc="http://schemas.openxmlformats.org/markup-compatibility/2006">
    <mc:Choice xmlns:p14="http://schemas.microsoft.com/office/powerpoint/2010/main" Requires="p14">
      <p:transition p14:dur="0">
        <p:sndAc>
          <p:stSnd>
            <p:snd r:embed="rId2" name="bomb.wav"/>
          </p:stSnd>
        </p:sndAc>
      </p:transition>
    </mc:Choice>
    <mc:Fallback>
      <p:transition>
        <p:sndAc>
          <p:stSnd>
            <p:snd r:embed="rId2" name="bomb.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F8ED4-A4A2-CA5F-89FE-0BBE3A18FB9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BD3A55-8549-9B85-D913-7A5A94E37396}"/>
              </a:ext>
            </a:extLst>
          </p:cNvPr>
          <p:cNvGrpSpPr/>
          <p:nvPr/>
        </p:nvGrpSpPr>
        <p:grpSpPr>
          <a:xfrm>
            <a:off x="-12506" y="2573388"/>
            <a:ext cx="9918506" cy="54064"/>
            <a:chOff x="0" y="0"/>
            <a:chExt cx="13224675" cy="72085"/>
          </a:xfrm>
        </p:grpSpPr>
        <p:sp>
          <p:nvSpPr>
            <p:cNvPr id="3" name="Freeform 3">
              <a:extLst>
                <a:ext uri="{FF2B5EF4-FFF2-40B4-BE49-F238E27FC236}">
                  <a16:creationId xmlns:a16="http://schemas.microsoft.com/office/drawing/2014/main" id="{B38A254A-556D-C15B-1B6E-D42EA42CCDB0}"/>
                </a:ext>
              </a:extLst>
            </p:cNvPr>
            <p:cNvSpPr/>
            <p:nvPr/>
          </p:nvSpPr>
          <p:spPr>
            <a:xfrm>
              <a:off x="0" y="0"/>
              <a:ext cx="13224638" cy="72080"/>
            </a:xfrm>
            <a:custGeom>
              <a:avLst/>
              <a:gdLst/>
              <a:ahLst/>
              <a:cxnLst/>
              <a:rect l="l" t="t" r="r" b="b"/>
              <a:pathLst>
                <a:path w="13224638" h="72080">
                  <a:moveTo>
                    <a:pt x="0" y="0"/>
                  </a:moveTo>
                  <a:lnTo>
                    <a:pt x="13224638" y="0"/>
                  </a:lnTo>
                  <a:lnTo>
                    <a:pt x="13224638" y="72080"/>
                  </a:lnTo>
                  <a:lnTo>
                    <a:pt x="0" y="72080"/>
                  </a:lnTo>
                  <a:close/>
                </a:path>
              </a:pathLst>
            </a:custGeom>
            <a:solidFill>
              <a:srgbClr val="92D050"/>
            </a:solidFill>
          </p:spPr>
        </p:sp>
      </p:grpSp>
      <p:grpSp>
        <p:nvGrpSpPr>
          <p:cNvPr id="4" name="Group 4">
            <a:extLst>
              <a:ext uri="{FF2B5EF4-FFF2-40B4-BE49-F238E27FC236}">
                <a16:creationId xmlns:a16="http://schemas.microsoft.com/office/drawing/2014/main" id="{661D66C2-7A26-3086-25A9-864BFFAC401F}"/>
              </a:ext>
            </a:extLst>
          </p:cNvPr>
          <p:cNvGrpSpPr/>
          <p:nvPr/>
        </p:nvGrpSpPr>
        <p:grpSpPr>
          <a:xfrm>
            <a:off x="-12506" y="6375044"/>
            <a:ext cx="9918506" cy="482956"/>
            <a:chOff x="0" y="0"/>
            <a:chExt cx="13224675" cy="643941"/>
          </a:xfrm>
        </p:grpSpPr>
        <p:sp>
          <p:nvSpPr>
            <p:cNvPr id="5" name="Freeform 5">
              <a:extLst>
                <a:ext uri="{FF2B5EF4-FFF2-40B4-BE49-F238E27FC236}">
                  <a16:creationId xmlns:a16="http://schemas.microsoft.com/office/drawing/2014/main" id="{CC13FD27-020E-7955-5CC5-744833EC414A}"/>
                </a:ext>
              </a:extLst>
            </p:cNvPr>
            <p:cNvSpPr/>
            <p:nvPr/>
          </p:nvSpPr>
          <p:spPr>
            <a:xfrm>
              <a:off x="0" y="0"/>
              <a:ext cx="13224638" cy="643890"/>
            </a:xfrm>
            <a:custGeom>
              <a:avLst/>
              <a:gdLst/>
              <a:ahLst/>
              <a:cxnLst/>
              <a:rect l="l" t="t" r="r" b="b"/>
              <a:pathLst>
                <a:path w="13224638" h="643890">
                  <a:moveTo>
                    <a:pt x="0" y="0"/>
                  </a:moveTo>
                  <a:lnTo>
                    <a:pt x="13224638" y="0"/>
                  </a:lnTo>
                  <a:lnTo>
                    <a:pt x="13224638" y="643890"/>
                  </a:lnTo>
                  <a:lnTo>
                    <a:pt x="0" y="643890"/>
                  </a:lnTo>
                  <a:close/>
                </a:path>
              </a:pathLst>
            </a:custGeom>
            <a:solidFill>
              <a:srgbClr val="0070C0"/>
            </a:solidFill>
          </p:spPr>
        </p:sp>
      </p:grpSp>
      <p:sp>
        <p:nvSpPr>
          <p:cNvPr id="6" name="TextBox 6">
            <a:extLst>
              <a:ext uri="{FF2B5EF4-FFF2-40B4-BE49-F238E27FC236}">
                <a16:creationId xmlns:a16="http://schemas.microsoft.com/office/drawing/2014/main" id="{8353FEBD-9199-86F7-459A-0246B06F566B}"/>
              </a:ext>
            </a:extLst>
          </p:cNvPr>
          <p:cNvSpPr txBox="1"/>
          <p:nvPr/>
        </p:nvSpPr>
        <p:spPr>
          <a:xfrm>
            <a:off x="91440" y="1244422"/>
            <a:ext cx="9723120" cy="685324"/>
          </a:xfrm>
          <a:prstGeom prst="rect">
            <a:avLst/>
          </a:prstGeom>
        </p:spPr>
        <p:txBody>
          <a:bodyPr lIns="0" tIns="0" rIns="0" bIns="0" rtlCol="0" anchor="t">
            <a:spAutoFit/>
          </a:bodyPr>
          <a:lstStyle/>
          <a:p>
            <a:pPr algn="ctr">
              <a:lnSpc>
                <a:spcPts val="2879"/>
              </a:lnSpc>
            </a:pPr>
            <a:r>
              <a:rPr lang="en-US" sz="2400" b="1">
                <a:solidFill>
                  <a:srgbClr val="0070C0"/>
                </a:solidFill>
                <a:latin typeface="Calibri (MS) Bold"/>
                <a:ea typeface="Calibri (MS) Bold"/>
                <a:cs typeface="Calibri (MS) Bold"/>
                <a:sym typeface="Calibri (MS) Bold"/>
              </a:rPr>
              <a:t>1st National Conference on Advances in Civil Engineering</a:t>
            </a:r>
          </a:p>
          <a:p>
            <a:pPr algn="ctr">
              <a:lnSpc>
                <a:spcPts val="2160"/>
              </a:lnSpc>
            </a:pPr>
            <a:r>
              <a:rPr lang="en-US" sz="1800">
                <a:solidFill>
                  <a:srgbClr val="0070C0"/>
                </a:solidFill>
                <a:latin typeface="Calibri (MS)"/>
                <a:ea typeface="Calibri (MS)"/>
                <a:cs typeface="Calibri (MS)"/>
                <a:sym typeface="Calibri (MS)"/>
              </a:rPr>
              <a:t>Organised by </a:t>
            </a:r>
          </a:p>
        </p:txBody>
      </p:sp>
      <p:sp>
        <p:nvSpPr>
          <p:cNvPr id="7" name="TextBox 7">
            <a:extLst>
              <a:ext uri="{FF2B5EF4-FFF2-40B4-BE49-F238E27FC236}">
                <a16:creationId xmlns:a16="http://schemas.microsoft.com/office/drawing/2014/main" id="{01A74E81-D420-F16A-0E3B-470AD47943BD}"/>
              </a:ext>
            </a:extLst>
          </p:cNvPr>
          <p:cNvSpPr txBox="1"/>
          <p:nvPr/>
        </p:nvSpPr>
        <p:spPr>
          <a:xfrm>
            <a:off x="78934" y="272567"/>
            <a:ext cx="9735626" cy="521913"/>
          </a:xfrm>
          <a:prstGeom prst="rect">
            <a:avLst/>
          </a:prstGeom>
        </p:spPr>
        <p:txBody>
          <a:bodyPr lIns="0" tIns="0" rIns="0" bIns="0" rtlCol="0" anchor="t">
            <a:spAutoFit/>
          </a:bodyPr>
          <a:lstStyle/>
          <a:p>
            <a:pPr algn="ctr">
              <a:lnSpc>
                <a:spcPts val="3840"/>
              </a:lnSpc>
            </a:pPr>
            <a:r>
              <a:rPr lang="en-US" sz="3200" b="1">
                <a:solidFill>
                  <a:srgbClr val="0070C0"/>
                </a:solidFill>
                <a:latin typeface="Arimo Bold"/>
                <a:ea typeface="Arimo Bold"/>
                <a:cs typeface="Arimo Bold"/>
                <a:sym typeface="Arimo Bold"/>
              </a:rPr>
              <a:t>NCACE 2026</a:t>
            </a:r>
          </a:p>
        </p:txBody>
      </p:sp>
      <p:sp>
        <p:nvSpPr>
          <p:cNvPr id="8" name="TextBox 8">
            <a:extLst>
              <a:ext uri="{FF2B5EF4-FFF2-40B4-BE49-F238E27FC236}">
                <a16:creationId xmlns:a16="http://schemas.microsoft.com/office/drawing/2014/main" id="{00E59834-4025-E132-43FE-B9922D60F246}"/>
              </a:ext>
            </a:extLst>
          </p:cNvPr>
          <p:cNvSpPr txBox="1"/>
          <p:nvPr/>
        </p:nvSpPr>
        <p:spPr>
          <a:xfrm>
            <a:off x="3576428" y="781412"/>
            <a:ext cx="2740628" cy="277892"/>
          </a:xfrm>
          <a:prstGeom prst="rect">
            <a:avLst/>
          </a:prstGeom>
        </p:spPr>
        <p:txBody>
          <a:bodyPr lIns="0" tIns="0" rIns="0" bIns="0" rtlCol="0" anchor="t">
            <a:spAutoFit/>
          </a:bodyPr>
          <a:lstStyle/>
          <a:p>
            <a:pPr algn="ctr">
              <a:lnSpc>
                <a:spcPts val="2160"/>
              </a:lnSpc>
            </a:pPr>
            <a:r>
              <a:rPr lang="en-US" sz="1800" b="1" spc="-10">
                <a:solidFill>
                  <a:srgbClr val="0070C0"/>
                </a:solidFill>
                <a:latin typeface="TT Rounds Condensed Bold"/>
                <a:ea typeface="TT Rounds Condensed Bold"/>
                <a:cs typeface="TT Rounds Condensed Bold"/>
                <a:sym typeface="TT Rounds Condensed Bold"/>
              </a:rPr>
              <a:t>(13 - 14 March 2026)</a:t>
            </a:r>
          </a:p>
        </p:txBody>
      </p:sp>
      <p:sp>
        <p:nvSpPr>
          <p:cNvPr id="9" name="TextBox 9">
            <a:extLst>
              <a:ext uri="{FF2B5EF4-FFF2-40B4-BE49-F238E27FC236}">
                <a16:creationId xmlns:a16="http://schemas.microsoft.com/office/drawing/2014/main" id="{4C2C8AF5-0C4A-DC7D-A51C-8E0C39C59365}"/>
              </a:ext>
            </a:extLst>
          </p:cNvPr>
          <p:cNvSpPr txBox="1"/>
          <p:nvPr/>
        </p:nvSpPr>
        <p:spPr>
          <a:xfrm>
            <a:off x="91440" y="1979514"/>
            <a:ext cx="9723120" cy="562213"/>
          </a:xfrm>
          <a:prstGeom prst="rect">
            <a:avLst/>
          </a:prstGeom>
        </p:spPr>
        <p:txBody>
          <a:bodyPr lIns="0" tIns="0" rIns="0" bIns="0" rtlCol="0" anchor="t">
            <a:spAutoFit/>
          </a:bodyPr>
          <a:lstStyle/>
          <a:p>
            <a:pPr algn="ctr">
              <a:lnSpc>
                <a:spcPts val="2160"/>
              </a:lnSpc>
            </a:pPr>
            <a:r>
              <a:rPr lang="en-US" sz="1800">
                <a:solidFill>
                  <a:srgbClr val="0070C0"/>
                </a:solidFill>
                <a:latin typeface="Calibri (MS)"/>
                <a:ea typeface="Calibri (MS)"/>
                <a:cs typeface="Calibri (MS)"/>
                <a:sym typeface="Calibri (MS)"/>
              </a:rPr>
              <a:t>Department of Civil Engineering, Motihari College of Engineering, Motihari </a:t>
            </a:r>
          </a:p>
          <a:p>
            <a:pPr algn="ctr">
              <a:lnSpc>
                <a:spcPts val="1920"/>
              </a:lnSpc>
            </a:pPr>
            <a:r>
              <a:rPr lang="en-US" sz="1600">
                <a:solidFill>
                  <a:srgbClr val="0070C0"/>
                </a:solidFill>
                <a:latin typeface="Calibri (MS)"/>
                <a:ea typeface="Calibri (MS)"/>
                <a:cs typeface="Calibri (MS)"/>
                <a:sym typeface="Calibri (MS)"/>
              </a:rPr>
              <a:t>East Champaran-845401, Bihar (India)</a:t>
            </a:r>
          </a:p>
        </p:txBody>
      </p:sp>
      <p:grpSp>
        <p:nvGrpSpPr>
          <p:cNvPr id="10" name="Group 10">
            <a:extLst>
              <a:ext uri="{FF2B5EF4-FFF2-40B4-BE49-F238E27FC236}">
                <a16:creationId xmlns:a16="http://schemas.microsoft.com/office/drawing/2014/main" id="{9A32AD30-E9A5-0F01-70CD-246565A8CC3A}"/>
              </a:ext>
            </a:extLst>
          </p:cNvPr>
          <p:cNvGrpSpPr/>
          <p:nvPr/>
        </p:nvGrpSpPr>
        <p:grpSpPr>
          <a:xfrm>
            <a:off x="474564" y="182585"/>
            <a:ext cx="1161288" cy="1105024"/>
            <a:chOff x="0" y="0"/>
            <a:chExt cx="1548384" cy="1473365"/>
          </a:xfrm>
        </p:grpSpPr>
        <p:sp>
          <p:nvSpPr>
            <p:cNvPr id="11" name="Freeform 11">
              <a:extLst>
                <a:ext uri="{FF2B5EF4-FFF2-40B4-BE49-F238E27FC236}">
                  <a16:creationId xmlns:a16="http://schemas.microsoft.com/office/drawing/2014/main" id="{82A22549-0527-1186-91DA-B03BAC92C3A1}"/>
                </a:ext>
              </a:extLst>
            </p:cNvPr>
            <p:cNvSpPr/>
            <p:nvPr/>
          </p:nvSpPr>
          <p:spPr>
            <a:xfrm>
              <a:off x="0" y="0"/>
              <a:ext cx="1548384" cy="1473327"/>
            </a:xfrm>
            <a:custGeom>
              <a:avLst/>
              <a:gdLst/>
              <a:ahLst/>
              <a:cxnLst/>
              <a:rect l="l" t="t" r="r" b="b"/>
              <a:pathLst>
                <a:path w="1548384" h="1473327">
                  <a:moveTo>
                    <a:pt x="0" y="0"/>
                  </a:moveTo>
                  <a:lnTo>
                    <a:pt x="1548384" y="0"/>
                  </a:lnTo>
                  <a:lnTo>
                    <a:pt x="1548384" y="1473327"/>
                  </a:lnTo>
                  <a:lnTo>
                    <a:pt x="0" y="1473327"/>
                  </a:lnTo>
                  <a:lnTo>
                    <a:pt x="0" y="0"/>
                  </a:lnTo>
                  <a:close/>
                </a:path>
              </a:pathLst>
            </a:custGeom>
            <a:blipFill>
              <a:blip r:embed="rId4"/>
              <a:stretch>
                <a:fillRect l="-81" r="-82" b="-2"/>
              </a:stretch>
            </a:blipFill>
          </p:spPr>
        </p:sp>
      </p:grpSp>
      <p:sp>
        <p:nvSpPr>
          <p:cNvPr id="12" name="TextBox 12">
            <a:extLst>
              <a:ext uri="{FF2B5EF4-FFF2-40B4-BE49-F238E27FC236}">
                <a16:creationId xmlns:a16="http://schemas.microsoft.com/office/drawing/2014/main" id="{5348769D-5635-E4D1-8C80-831F82B659FE}"/>
              </a:ext>
            </a:extLst>
          </p:cNvPr>
          <p:cNvSpPr txBox="1"/>
          <p:nvPr/>
        </p:nvSpPr>
        <p:spPr>
          <a:xfrm>
            <a:off x="1624527" y="3272542"/>
            <a:ext cx="5678805" cy="899512"/>
          </a:xfrm>
          <a:prstGeom prst="rect">
            <a:avLst/>
          </a:prstGeom>
        </p:spPr>
        <p:txBody>
          <a:bodyPr lIns="0" tIns="0" rIns="0" bIns="0" rtlCol="0" anchor="t">
            <a:spAutoFit/>
          </a:bodyPr>
          <a:lstStyle/>
          <a:p>
            <a:pPr algn="l">
              <a:lnSpc>
                <a:spcPts val="3359"/>
              </a:lnSpc>
            </a:pPr>
            <a:r>
              <a:rPr lang="en-US" sz="2799" b="1">
                <a:solidFill>
                  <a:srgbClr val="002060"/>
                </a:solidFill>
                <a:latin typeface="Calibri (MS) Bold"/>
                <a:ea typeface="Calibri (MS) Bold"/>
                <a:cs typeface="Calibri (MS) Bold"/>
                <a:sym typeface="Calibri (MS) Bold"/>
              </a:rPr>
              <a:t>Thank you!</a:t>
            </a:r>
          </a:p>
        </p:txBody>
      </p:sp>
      <p:sp>
        <p:nvSpPr>
          <p:cNvPr id="13" name="TextBox 13">
            <a:extLst>
              <a:ext uri="{FF2B5EF4-FFF2-40B4-BE49-F238E27FC236}">
                <a16:creationId xmlns:a16="http://schemas.microsoft.com/office/drawing/2014/main" id="{4688F01B-7882-95C9-D82D-136186982387}"/>
              </a:ext>
            </a:extLst>
          </p:cNvPr>
          <p:cNvSpPr txBox="1"/>
          <p:nvPr/>
        </p:nvSpPr>
        <p:spPr>
          <a:xfrm>
            <a:off x="1624527" y="3983869"/>
            <a:ext cx="7719279" cy="571500"/>
          </a:xfrm>
          <a:prstGeom prst="rect">
            <a:avLst/>
          </a:prstGeom>
        </p:spPr>
        <p:txBody>
          <a:bodyPr lIns="0" tIns="0" rIns="0" bIns="0" rtlCol="0" anchor="t">
            <a:spAutoFit/>
          </a:bodyPr>
          <a:lstStyle/>
          <a:p>
            <a:pPr algn="l">
              <a:lnSpc>
                <a:spcPts val="2160"/>
              </a:lnSpc>
            </a:pPr>
            <a:r>
              <a:rPr lang="en-US" sz="1800" b="1">
                <a:solidFill>
                  <a:srgbClr val="58595B"/>
                </a:solidFill>
                <a:latin typeface="Calibri (MS) Bold"/>
                <a:ea typeface="Calibri (MS) Bold"/>
                <a:cs typeface="Calibri (MS) Bold"/>
                <a:sym typeface="Calibri (MS) Bold"/>
              </a:rPr>
              <a:t>Presenting Author:</a:t>
            </a:r>
            <a:r>
              <a:rPr lang="en-US" sz="1800">
                <a:solidFill>
                  <a:srgbClr val="58595B"/>
                </a:solidFill>
                <a:latin typeface="Calibri (MS)"/>
                <a:ea typeface="Calibri (MS)"/>
                <a:cs typeface="Calibri (MS)"/>
                <a:sym typeface="Calibri (MS)"/>
              </a:rPr>
              <a:t> MD. MAHTAB ALAM</a:t>
            </a:r>
          </a:p>
          <a:p>
            <a:pPr algn="l">
              <a:lnSpc>
                <a:spcPts val="2160"/>
              </a:lnSpc>
            </a:pPr>
            <a:r>
              <a:rPr lang="en-US" sz="1800" b="1">
                <a:solidFill>
                  <a:srgbClr val="58595B"/>
                </a:solidFill>
                <a:latin typeface="Calibri (MS) Bold"/>
                <a:ea typeface="Calibri (MS) Bold"/>
                <a:cs typeface="Calibri (MS) Bold"/>
                <a:sym typeface="Calibri (MS) Bold"/>
              </a:rPr>
              <a:t>Email Address:</a:t>
            </a:r>
            <a:r>
              <a:rPr lang="en-US" sz="1800">
                <a:solidFill>
                  <a:srgbClr val="58595B"/>
                </a:solidFill>
                <a:latin typeface="Calibri (MS)"/>
                <a:ea typeface="Calibri (MS)"/>
                <a:cs typeface="Calibri (MS)"/>
                <a:sym typeface="Calibri (MS)"/>
              </a:rPr>
              <a:t> myselfmahtab04@gmail.com</a:t>
            </a:r>
          </a:p>
        </p:txBody>
      </p:sp>
      <p:sp>
        <p:nvSpPr>
          <p:cNvPr id="14" name="TextBox 14">
            <a:extLst>
              <a:ext uri="{FF2B5EF4-FFF2-40B4-BE49-F238E27FC236}">
                <a16:creationId xmlns:a16="http://schemas.microsoft.com/office/drawing/2014/main" id="{C497BE4A-436F-E31E-F782-8CEB08710892}"/>
              </a:ext>
            </a:extLst>
          </p:cNvPr>
          <p:cNvSpPr txBox="1"/>
          <p:nvPr/>
        </p:nvSpPr>
        <p:spPr>
          <a:xfrm>
            <a:off x="1118934" y="5193544"/>
            <a:ext cx="7668133" cy="1095375"/>
          </a:xfrm>
          <a:prstGeom prst="rect">
            <a:avLst/>
          </a:prstGeom>
        </p:spPr>
        <p:txBody>
          <a:bodyPr lIns="0" tIns="0" rIns="0" bIns="0" rtlCol="0" anchor="t">
            <a:spAutoFit/>
          </a:bodyPr>
          <a:lstStyle/>
          <a:p>
            <a:pPr algn="l">
              <a:lnSpc>
                <a:spcPts val="1436"/>
              </a:lnSpc>
            </a:pPr>
            <a:r>
              <a:rPr lang="en-US" sz="1196" b="1" spc="-7" dirty="0">
                <a:solidFill>
                  <a:srgbClr val="000000"/>
                </a:solidFill>
                <a:latin typeface="TT Rounds Condensed Bold"/>
                <a:ea typeface="TT Rounds Condensed Bold"/>
                <a:cs typeface="TT Rounds Condensed Bold"/>
                <a:sym typeface="TT Rounds Condensed Bold"/>
              </a:rPr>
              <a:t>Instead of funding, we seek hardware computing resources (high-GPU machines), large data storage, and access to real-world civil engineering datasets to further advance this research and achieve more realistic infrastructure planning results.</a:t>
            </a:r>
          </a:p>
          <a:p>
            <a:pPr algn="l">
              <a:lnSpc>
                <a:spcPts val="1436"/>
              </a:lnSpc>
            </a:pPr>
            <a:endParaRPr lang="en-US" sz="1196" b="1" spc="-7" dirty="0">
              <a:solidFill>
                <a:srgbClr val="000000"/>
              </a:solidFill>
              <a:latin typeface="TT Rounds Condensed Bold"/>
              <a:ea typeface="TT Rounds Condensed Bold"/>
              <a:cs typeface="TT Rounds Condensed Bold"/>
              <a:sym typeface="TT Rounds Condensed Bold"/>
            </a:endParaRPr>
          </a:p>
          <a:p>
            <a:pPr algn="l">
              <a:lnSpc>
                <a:spcPts val="1436"/>
              </a:lnSpc>
            </a:pPr>
            <a:endParaRPr lang="en-US" sz="1196" b="1" spc="-7" dirty="0">
              <a:solidFill>
                <a:srgbClr val="000000"/>
              </a:solidFill>
              <a:latin typeface="TT Rounds Condensed Bold"/>
              <a:ea typeface="TT Rounds Condensed Bold"/>
              <a:cs typeface="TT Rounds Condensed Bold"/>
              <a:sym typeface="TT Rounds Condensed Bold"/>
            </a:endParaRPr>
          </a:p>
          <a:p>
            <a:pPr algn="l">
              <a:lnSpc>
                <a:spcPts val="1436"/>
              </a:lnSpc>
            </a:pPr>
            <a:endParaRPr lang="en-US" sz="1196" b="1" spc="-7" dirty="0">
              <a:solidFill>
                <a:srgbClr val="000000"/>
              </a:solidFill>
              <a:latin typeface="TT Rounds Condensed Bold"/>
              <a:ea typeface="TT Rounds Condensed Bold"/>
              <a:cs typeface="TT Rounds Condensed Bold"/>
              <a:sym typeface="TT Rounds Condensed Bold"/>
            </a:endParaRPr>
          </a:p>
          <a:p>
            <a:pPr algn="l">
              <a:lnSpc>
                <a:spcPts val="1436"/>
              </a:lnSpc>
            </a:pPr>
            <a:endParaRPr lang="en-US" sz="1196" b="1" spc="-7" dirty="0">
              <a:solidFill>
                <a:srgbClr val="000000"/>
              </a:solidFill>
              <a:latin typeface="TT Rounds Condensed Bold"/>
              <a:ea typeface="TT Rounds Condensed Bold"/>
              <a:cs typeface="TT Rounds Condensed Bold"/>
              <a:sym typeface="TT Rounds Condensed Bold"/>
            </a:endParaRPr>
          </a:p>
        </p:txBody>
      </p:sp>
    </p:spTree>
    <p:extLst>
      <p:ext uri="{BB962C8B-B14F-4D97-AF65-F5344CB8AC3E}">
        <p14:creationId xmlns:p14="http://schemas.microsoft.com/office/powerpoint/2010/main" val="70565049"/>
      </p:ext>
    </p:extLst>
  </p:cSld>
  <p:clrMapOvr>
    <a:masterClrMapping/>
  </p:clrMapOvr>
  <mc:AlternateContent xmlns:mc="http://schemas.openxmlformats.org/markup-compatibility/2006">
    <mc:Choice xmlns:p14="http://schemas.microsoft.com/office/powerpoint/2010/main" Requires="p14">
      <p:transition p14:dur="0">
        <p:sndAc>
          <p:stSnd>
            <p:snd r:embed="rId3" name="bomb.wav"/>
          </p:stSnd>
        </p:sndAc>
      </p:transition>
    </mc:Choice>
    <mc:Fallback>
      <p:transition>
        <p:sndAc>
          <p:stSnd>
            <p:snd r:embed="rId3" name="bomb.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1780</Words>
  <Application>Microsoft Office PowerPoint</Application>
  <PresentationFormat>A4 Paper (210x297 mm)</PresentationFormat>
  <Paragraphs>196</Paragraphs>
  <Slides>15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Arimo Bold</vt:lpstr>
      <vt:lpstr>TT Rounds Condensed Bold</vt:lpstr>
      <vt:lpstr>Arial</vt:lpstr>
      <vt:lpstr>Calibri</vt:lpstr>
      <vt:lpstr>Calibri (MS)</vt:lpstr>
      <vt:lpstr>TT Rounds Condensed</vt:lpstr>
      <vt:lpstr>Calibri (MS) Bold</vt:lpstr>
      <vt:lpstr>Times New Roman MT Bold</vt:lpstr>
      <vt:lpstr>Times New Roman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NCACE  905.pptx</dc:title>
  <dc:creator>Mohammad Mahtab</dc:creator>
  <cp:lastModifiedBy>Mohammad Mahtab</cp:lastModifiedBy>
  <cp:revision>3</cp:revision>
  <dcterms:created xsi:type="dcterms:W3CDTF">2006-08-16T00:00:00Z</dcterms:created>
  <dcterms:modified xsi:type="dcterms:W3CDTF">2026-03-14T05:42:25Z</dcterms:modified>
  <dc:identifier>DAHDipaVnn8</dc:identifier>
</cp:coreProperties>
</file>